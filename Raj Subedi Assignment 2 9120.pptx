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67" r:id="rId2"/>
    <p:sldId id="257" r:id="rId3"/>
    <p:sldId id="258" r:id="rId4"/>
    <p:sldId id="259" r:id="rId5"/>
    <p:sldId id="268" r:id="rId6"/>
    <p:sldId id="269" r:id="rId7"/>
    <p:sldId id="270" r:id="rId8"/>
    <p:sldId id="271" r:id="rId9"/>
    <p:sldId id="272" r:id="rId10"/>
    <p:sldId id="273" r:id="rId11"/>
    <p:sldId id="27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CEAADC9-7BD1-4071-806C-66D2640D2F95}">
          <p14:sldIdLst/>
        </p14:section>
        <p14:section name="Untitled Section" id="{BDCA4994-5417-4777-B89C-604C73438DAD}">
          <p14:sldIdLst>
            <p14:sldId id="267"/>
            <p14:sldId id="257"/>
            <p14:sldId id="258"/>
            <p14:sldId id="259"/>
            <p14:sldId id="268"/>
            <p14:sldId id="269"/>
            <p14:sldId id="270"/>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5686" autoAdjust="0"/>
  </p:normalViewPr>
  <p:slideViewPr>
    <p:cSldViewPr snapToGrid="0">
      <p:cViewPr varScale="1">
        <p:scale>
          <a:sx n="62" d="100"/>
          <a:sy n="62" d="100"/>
        </p:scale>
        <p:origin x="148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463AFA-3541-4762-B8A9-D5830FF42E40}" type="datetimeFigureOut">
              <a:rPr lang="en-US" smtClean="0"/>
              <a:t>10/7/2026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20241E-08E9-46E7-A722-900627289CCD}" type="slidenum">
              <a:rPr lang="en-US" smtClean="0"/>
              <a:t>‹#›</a:t>
            </a:fld>
            <a:endParaRPr lang="en-US"/>
          </a:p>
        </p:txBody>
      </p:sp>
    </p:spTree>
    <p:extLst>
      <p:ext uri="{BB962C8B-B14F-4D97-AF65-F5344CB8AC3E}">
        <p14:creationId xmlns:p14="http://schemas.microsoft.com/office/powerpoint/2010/main" val="28066322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Hello everyone. In Assignment 1, I proposed that households living closer to an alcohol outlet spend a larger share of their income on alcohol. Today I am extending that relationship to three and four variables. I will cover the operational linkage, introduce a third variable and test it in all three causal roles, state a three-variable hypothesis, add a fourth variable that names the mechanism, and finish by evaluating the model.</a:t>
            </a:r>
          </a:p>
          <a:p>
            <a:endParaRPr lang="en-US" dirty="0"/>
          </a:p>
        </p:txBody>
      </p:sp>
    </p:spTree>
    <p:extLst>
      <p:ext uri="{BB962C8B-B14F-4D97-AF65-F5344CB8AC3E}">
        <p14:creationId xmlns:p14="http://schemas.microsoft.com/office/powerpoint/2010/main" val="13966994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by restating where Assignment 1 ended. My independent variable is the network distance from a household's residence to the nearest off-premise alcohol outlet. My dependent variable is alcohol spending as a percentage of monthly household income. The relationship I predicted is negative: the closer the outlet, the larger the share of income spent.
The hypothesis itself has not changed. I now specify the form as negatively accelerated, and as you will see, that shape is what the rest of my model has to explain.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operational linkage, and the assignment asks for four elements, so let me take them in order.
The form is negatively accelerated. Spending share falls steeply over the first half mile and then flattens out.
The direction is negative. More distance means a smaller share of income spent.
The coefficient is moderate, not strong. I would expect a correlation around negative point two five to negative point three five, because accessibility is competing with price, with dependence, and with drinking norms.
The limit is the part I want to spend a moment on. There are two of them. On the left there is a ceiling, because even if the store is at your doorstep, purchasing is capped by your budget and by your body. On the right there is a conceptual floor above zero, because some purchasing happens on deliberate planned trips no matter how far the store is. Proximity adds to that baseline, but it cannot remove it. The dotted line at zero is different. That is a false floor imposed by my measure, because spending share cannot be negative and every non-purchasing household piles up at exactly zero.
That brings me to the constant. My y-intercept sits at the ceiling, not at the origin, because perfect accessibility does not create purchasing out of nothing. It acts on households that already have some propensity to buy.
And the reason for this shape is the bar at the bottom. What matters is whether the store is on a route you already travel. That changes within a few blocks, which is why the curve is steep there and flat later.</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third variable is household mobility resources, which I define as the means available to a household for covering physical distance in the course of its daily activities.
I propose two subdimensions. The first is private vehicle access, meaning whether a working vehicle is available for routine trips. The second is public transit access, meaning how close transit is and how often it runs.
The variable I will actually use is household vehicle access. I chose private vehicle access over transit because a bus route is fixed (a variable has to vary), whereas a car turns a distance into a short trip.
One clarification before I go on, because it is the question I would ask. Low income is still my scope condition, not my third variable. Within low-income households, vehicle access varies a great deal, and that variation is exactly what I am interested in.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role is spurious, where the third variable causes both of my variables and the relationship between them is an artifact.
Vehicle access can do this, and by two different mechanisms. On the independent variable side, a household with a car can afford to live in a lower-density area where stores are spread further apart, while a household without one is pushed toward a dense neighborhood where outlets cluster. So vehicle access increases distance, through residential sorting.
On the dependent variable side, having a car lets you reach a supermarket or a discount retailer and buy in bulk, which lowers what you pay per drink and therefore lowers your spending share.
Put those together and vehicle access would produce a negative association between distance and spending even if proximity did nothing at all. I want to be clear that this is a serious threat and not a token one, because it reproduces exactly the sign my theory predicts.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role is mediation, and this is the one that does not work, so let me flip it rather than force it.
Mediation requires that my independent variable cause the third variable. But how far a household lives from a liquor store does not cause that household to acquire or lose a car. The time order simply fails. Nobody has ever stood in their driveway and thought, ‘the liquor store is two miles away -- time to buy a Honda.'
What does work is turning it around. If I put vehicle access at the front, then my own independent concept becomes the mediator: having a vehicle reduces the effort of obtaining alcohol, and that reduced effort raises purchasing.
There is a catch worth naming, because it is the interesting part. That chain holds for my concept, which I defined as obtaining alcohol with little expenditure of time, travel, and effort. It does not hold for my measure, because network distance in miles is fixed by geography and does not change when a household buys a car. That gap between the concept and the measure is itself a reason I did not choose this role.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role is moderation, and this is the one I choose.
The logic is straightforward. Distance acts on purchasing through travel cost, and travel cost depends entirely on how you make the trip. For a household with a car, half a mile is a few minutes and folds into a trip you were making anyway, so proximity should barely play a determining role (or register) and the slope should be shallow. For a household without a car, that same half mile has to be walked which takes several minutes, and the person has to carry the purchased alcohol back home, so proximity plays a dominant role and the slope should be steep.
Let me say why I picked this over the other two. Mediation is ruled out by time order, as I just showed. The spurious story is real, but the right response to a confound is to control for it, not to abandon the causal claim. Moderation is the only one of the three roles that states something my theory actually predicts, rather than something my theory merely has to survive.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hypothesis, and I have written it to cover both levels of the moderator so that there is no ambiguity.
Among low-income households, vehicle access moderates the relationship between distance to the nearest off-premise outlet and the share of monthly income spent on alcohol, such that among households without a vehicle, those living within half a mile of an outlet will spend a substantially higher share of their income on alcohol than those living farther away; whereas among households with a vehicle, those living within half a mile will spend only slightly more than those living farther away.
The chart shows the pattern I am predicting. The blue bars are households with no vehicle and the orange bars are households with one. The important thing is not the heights of the bars but the slopes of the lines drawn across them. The carless line drops sharply from near to far. The vehicle line is almost flat. Non-parallel slopes are what an interaction looks like. If those two lines came out parallel, I would have no moderation.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fourth variable is incidental alcohol purchases, which I define as how often household members buy alcohol while they are out for some other reason, such as getting fuel, shopping for groceries, or travelling home.
I need it because without it my theory is a black box. The earlier models say that proximity raises spending, but they never name the behavioral event through which that happens, and a model that cannot name its own mechanism is very hard to falsify. With this variable, my prediction becomes specific: proximity should raise spending by multiplying incidental purchases, not by making planned stock-up trips bigger. If it turned out that proximity worked entirely through planned purchases, my candy-at-checkout analogy would be wrong even though my two-variable hypothesis survived.
It also explains the curve from earlier, because an incidental purchase requires the store to sit on a route you are already travelling, and that is only true at short distances.
One measurement note. I define it by what the trip was for, not by what the shopper intended, so nobody has to report their own state of mind.
vehicle access now moderates the path from distance to incidental purchases rather than the overall relationship. The dashed line underneath is the residual direct path through planned purchases, and my theory predicts it is the smaller of the two routes.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to evaluate the model on five criteria.
Testability is high. Every construct has an operational definition and an identifiable data source: state licensing records and geocoding for distance, single survey items for vehicle access and incidental purchases, and the items from Assignment 1 for spending share.
Falsifiability is also high, and I want to stress this one. The form could come out linear instead of decelerating. The interaction with vehicle access could be null or reversed. The indirect path through incidental purchases could turn out smaller than the direct path. Any one of those would disconfirm a specific claim.
Parsimony is medium. Four variables with one interaction and one mediator is small compared with a full ecological model, but it is more complex than the two variable relationship.
Explanatory power is medium. I specify a credible mechanism, but I explain variation in spending among households that already have some propensity to buy. I do not explain the propensity itself, and price, dependence, and neighborhood context are all untheorized.
Degree of formal development is low, </a:t>
            </a:r>
            <a:r>
              <a:rPr lang="en-US" dirty="0" err="1"/>
              <a:t>tbh</a:t>
            </a:r>
            <a:r>
              <a:rPr lang="en-US" dirty="0"/>
              <a:t>. My theory is stated in words and in diagrams, not as a mathematical model with named parameters. Turning the diagram into a specified structural model with a nonlinear term for distance is the next step.
So the strengths of this model are on the conceptual side and the weaknesses are in its formalization.  Happy to take questions. Thank you.</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12331-33FD-6770-BB5D-0AC3783269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57727D1-201A-30FE-16DE-8EAF3C632714}"/>
              </a:ext>
            </a:extLst>
          </p:cNvPr>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106E56D-0B5B-F91B-698C-45F5ABC21DD4}"/>
              </a:ext>
            </a:extLst>
          </p:cNvPr>
          <p:cNvSpPr>
            <a:spLocks noGrp="1"/>
          </p:cNvSpPr>
          <p:nvPr>
            <p:ph type="dt" sz="half" idx="10"/>
          </p:nvPr>
        </p:nvSpPr>
        <p:spPr/>
        <p:txBody>
          <a:bodyPr/>
          <a:lstStyle/>
          <a:p>
            <a:fld id="{52CE7DAE-68BE-48C1-AB63-9A85F7ADE3FD}" type="datetimeFigureOut">
              <a:rPr lang="en-US" smtClean="0"/>
              <a:t>10/7/2026</a:t>
            </a:fld>
            <a:endParaRPr lang="en-US"/>
          </a:p>
        </p:txBody>
      </p:sp>
      <p:sp>
        <p:nvSpPr>
          <p:cNvPr id="5" name="Footer Placeholder 4">
            <a:extLst>
              <a:ext uri="{FF2B5EF4-FFF2-40B4-BE49-F238E27FC236}">
                <a16:creationId xmlns:a16="http://schemas.microsoft.com/office/drawing/2014/main" id="{600F3EF1-441B-C391-6C29-64AF14934F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64CB9B-189E-65D3-7B39-1EE4443B10B9}"/>
              </a:ext>
            </a:extLst>
          </p:cNvPr>
          <p:cNvSpPr>
            <a:spLocks noGrp="1"/>
          </p:cNvSpPr>
          <p:nvPr>
            <p:ph type="sldNum" sz="quarter" idx="12"/>
          </p:nvPr>
        </p:nvSpPr>
        <p:spPr/>
        <p:txBody>
          <a:bodyPr/>
          <a:lstStyle/>
          <a:p>
            <a:fld id="{033C4C95-76F0-4A23-BCF0-EB036CD8BB79}" type="slidenum">
              <a:rPr lang="en-US" smtClean="0"/>
              <a:t>‹#›</a:t>
            </a:fld>
            <a:endParaRPr lang="en-US"/>
          </a:p>
        </p:txBody>
      </p:sp>
    </p:spTree>
    <p:extLst>
      <p:ext uri="{BB962C8B-B14F-4D97-AF65-F5344CB8AC3E}">
        <p14:creationId xmlns:p14="http://schemas.microsoft.com/office/powerpoint/2010/main" val="36496244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310943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8825256"/>
      </p:ext>
    </p:extLst>
  </p:cSld>
  <p:clrMap bg1="lt1" tx1="dk1" bg2="lt2" tx2="dk2" accent1="accent1" accent2="accent2" accent3="accent3" accent4="accent4" accent5="accent5" accent6="accent6" hlink="hlink" folHlink="folHlink"/>
  <p:sldLayoutIdLst>
    <p:sldLayoutId id="2147483661" r:id="rId1"/>
    <p:sldLayoutId id="2147483662" r:id="rId2"/>
  </p:sldLayoutIdLst>
  <p:hf sldNum="0"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4EB23-5A72-AC93-A9D0-9C5FA8779F9A}"/>
              </a:ext>
            </a:extLst>
          </p:cNvPr>
          <p:cNvSpPr>
            <a:spLocks noGrp="1"/>
          </p:cNvSpPr>
          <p:nvPr>
            <p:ph type="ctrTitle"/>
          </p:nvPr>
        </p:nvSpPr>
        <p:spPr>
          <a:xfrm>
            <a:off x="1524000" y="703263"/>
            <a:ext cx="9144000" cy="2387600"/>
          </a:xfrm>
          <a:solidFill>
            <a:schemeClr val="accent2"/>
          </a:solidFill>
          <a:ln>
            <a:solidFill>
              <a:srgbClr val="FF0000"/>
            </a:solidFill>
          </a:ln>
          <a:effectLst>
            <a:outerShdw blurRad="50800" dist="38100" dir="5400000" algn="t" rotWithShape="0">
              <a:prstClr val="black">
                <a:alpha val="40000"/>
              </a:prstClr>
            </a:outerShdw>
          </a:effectLst>
        </p:spPr>
        <p:txBody>
          <a:bodyPr/>
          <a:lstStyle/>
          <a:p>
            <a:r>
              <a:rPr lang="en-US" sz="4800" b="1" dirty="0">
                <a:highlight>
                  <a:srgbClr val="C0C0C0"/>
                </a:highlight>
              </a:rPr>
              <a:t>Physical Accessibility of Alcohol and Alcohol Purchasing Among Low-Income Households</a:t>
            </a:r>
          </a:p>
        </p:txBody>
      </p:sp>
      <p:sp>
        <p:nvSpPr>
          <p:cNvPr id="3" name="Subtitle 2">
            <a:extLst>
              <a:ext uri="{FF2B5EF4-FFF2-40B4-BE49-F238E27FC236}">
                <a16:creationId xmlns:a16="http://schemas.microsoft.com/office/drawing/2014/main" id="{7CC85376-43F6-DB78-FDEC-F62F7C0E24D4}"/>
              </a:ext>
            </a:extLst>
          </p:cNvPr>
          <p:cNvSpPr>
            <a:spLocks noGrp="1"/>
          </p:cNvSpPr>
          <p:nvPr>
            <p:ph type="subTitle" idx="1"/>
          </p:nvPr>
        </p:nvSpPr>
        <p:spPr>
          <a:solidFill>
            <a:schemeClr val="accent2"/>
          </a:solidFill>
        </p:spPr>
        <p:txBody>
          <a:bodyPr/>
          <a:lstStyle/>
          <a:p>
            <a:r>
              <a:rPr lang="en-US" dirty="0">
                <a:highlight>
                  <a:srgbClr val="00FF00"/>
                </a:highlight>
              </a:rPr>
              <a:t>Three and four variable relationships</a:t>
            </a:r>
          </a:p>
          <a:p>
            <a:r>
              <a:rPr lang="en-US" dirty="0"/>
              <a:t>Raj Kumar Subedi</a:t>
            </a:r>
          </a:p>
          <a:p>
            <a:r>
              <a:rPr lang="en-US" dirty="0"/>
              <a:t>PHPH 9120</a:t>
            </a:r>
          </a:p>
          <a:p>
            <a:r>
              <a:rPr lang="en-US" dirty="0"/>
              <a:t>10/08/2026</a:t>
            </a:r>
          </a:p>
        </p:txBody>
      </p:sp>
    </p:spTree>
    <p:extLst>
      <p:ext uri="{BB962C8B-B14F-4D97-AF65-F5344CB8AC3E}">
        <p14:creationId xmlns:p14="http://schemas.microsoft.com/office/powerpoint/2010/main" val="97916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16992"/>
            <a:ext cx="11094720" cy="755904"/>
          </a:xfrm>
          <a:prstGeom prst="rect">
            <a:avLst/>
          </a:prstGeom>
          <a:noFill/>
          <a:ln/>
        </p:spPr>
        <p:txBody>
          <a:bodyPr wrap="square" lIns="0" tIns="0" rIns="0" bIns="0" rtlCol="0" anchor="ctr"/>
          <a:lstStyle/>
          <a:p>
            <a:pPr defTabSz="1219170"/>
            <a:r>
              <a:rPr lang="en-US" sz="4800" b="1" dirty="0">
                <a:solidFill>
                  <a:srgbClr val="26222B"/>
                </a:solidFill>
                <a:latin typeface="Cambria" pitchFamily="34" charset="0"/>
                <a:ea typeface="Cambria" pitchFamily="34" charset="-122"/>
                <a:cs typeface="Cambria" pitchFamily="34" charset="-120"/>
              </a:rPr>
              <a:t>Where we left off, and what changed</a:t>
            </a:r>
            <a:endParaRPr lang="en-US" sz="4800" dirty="0">
              <a:solidFill>
                <a:prstClr val="black"/>
              </a:solidFill>
              <a:latin typeface="Calibri" panose="020F0502020204030204"/>
            </a:endParaRPr>
          </a:p>
        </p:txBody>
      </p:sp>
      <p:sp>
        <p:nvSpPr>
          <p:cNvPr id="3" name="Shape 1"/>
          <p:cNvSpPr/>
          <p:nvPr/>
        </p:nvSpPr>
        <p:spPr>
          <a:xfrm>
            <a:off x="548640" y="1402080"/>
            <a:ext cx="3596640" cy="1158240"/>
          </a:xfrm>
          <a:prstGeom prst="roundRect">
            <a:avLst>
              <a:gd name="adj" fmla="val 8421"/>
            </a:avLst>
          </a:prstGeom>
          <a:solidFill>
            <a:srgbClr val="1F1B24"/>
          </a:solidFill>
          <a:ln w="12700">
            <a:solidFill>
              <a:srgbClr val="1F1B24"/>
            </a:solidFill>
            <a:prstDash val="solid"/>
          </a:ln>
        </p:spPr>
        <p:txBody>
          <a:bodyPr/>
          <a:lstStyle/>
          <a:p>
            <a:pPr defTabSz="1219170"/>
            <a:endParaRPr lang="en-US" sz="2400">
              <a:solidFill>
                <a:prstClr val="black"/>
              </a:solidFill>
              <a:latin typeface="Calibri" panose="020F0502020204030204"/>
            </a:endParaRPr>
          </a:p>
        </p:txBody>
      </p:sp>
      <p:sp>
        <p:nvSpPr>
          <p:cNvPr id="4" name="Text 2"/>
          <p:cNvSpPr txBox="1"/>
          <p:nvPr/>
        </p:nvSpPr>
        <p:spPr>
          <a:xfrm>
            <a:off x="609600" y="1402080"/>
            <a:ext cx="3474720" cy="1158240"/>
          </a:xfrm>
          <a:prstGeom prst="rect">
            <a:avLst/>
          </a:prstGeom>
          <a:noFill/>
          <a:ln/>
        </p:spPr>
        <p:txBody>
          <a:bodyPr wrap="square" lIns="0" tIns="0" rIns="0" bIns="0" rtlCol="0" anchor="ctr"/>
          <a:lstStyle/>
          <a:p>
            <a:pPr algn="ctr" defTabSz="1219170"/>
            <a:r>
              <a:rPr lang="en-US" sz="2400" b="1" dirty="0">
                <a:solidFill>
                  <a:srgbClr val="FFFFFF"/>
                </a:solidFill>
                <a:latin typeface="Calibri" pitchFamily="34" charset="0"/>
                <a:ea typeface="Calibri" pitchFamily="34" charset="-122"/>
                <a:cs typeface="Calibri" pitchFamily="34" charset="-120"/>
              </a:rPr>
              <a:t>Network distance to</a:t>
            </a:r>
            <a:endParaRPr lang="en-US" sz="2400" dirty="0">
              <a:solidFill>
                <a:prstClr val="black"/>
              </a:solidFill>
              <a:latin typeface="Calibri" panose="020F0502020204030204"/>
            </a:endParaRPr>
          </a:p>
          <a:p>
            <a:pPr algn="ctr" defTabSz="1219170"/>
            <a:r>
              <a:rPr lang="en-US" sz="2400" b="1" dirty="0">
                <a:solidFill>
                  <a:srgbClr val="FFFFFF"/>
                </a:solidFill>
                <a:latin typeface="Calibri" pitchFamily="34" charset="0"/>
                <a:ea typeface="Calibri" pitchFamily="34" charset="-122"/>
                <a:cs typeface="Calibri" pitchFamily="34" charset="-120"/>
              </a:rPr>
              <a:t>nearest off-premise outlet</a:t>
            </a:r>
            <a:endParaRPr lang="en-US" sz="2400" dirty="0">
              <a:solidFill>
                <a:prstClr val="black"/>
              </a:solidFill>
              <a:latin typeface="Calibri" panose="020F0502020204030204"/>
            </a:endParaRPr>
          </a:p>
        </p:txBody>
      </p:sp>
      <p:sp>
        <p:nvSpPr>
          <p:cNvPr id="5" name="Shape 3"/>
          <p:cNvSpPr/>
          <p:nvPr/>
        </p:nvSpPr>
        <p:spPr>
          <a:xfrm>
            <a:off x="8046720" y="1402080"/>
            <a:ext cx="3596640" cy="1158240"/>
          </a:xfrm>
          <a:prstGeom prst="roundRect">
            <a:avLst>
              <a:gd name="adj" fmla="val 8421"/>
            </a:avLst>
          </a:prstGeom>
          <a:solidFill>
            <a:srgbClr val="1F1B24"/>
          </a:solidFill>
          <a:ln w="12700">
            <a:solidFill>
              <a:srgbClr val="1F1B24"/>
            </a:solidFill>
            <a:prstDash val="solid"/>
          </a:ln>
        </p:spPr>
        <p:txBody>
          <a:bodyPr/>
          <a:lstStyle/>
          <a:p>
            <a:pPr defTabSz="1219170"/>
            <a:endParaRPr lang="en-US" sz="2400">
              <a:solidFill>
                <a:prstClr val="black"/>
              </a:solidFill>
              <a:latin typeface="Calibri" panose="020F0502020204030204"/>
            </a:endParaRPr>
          </a:p>
        </p:txBody>
      </p:sp>
      <p:sp>
        <p:nvSpPr>
          <p:cNvPr id="6" name="Text 4"/>
          <p:cNvSpPr txBox="1"/>
          <p:nvPr/>
        </p:nvSpPr>
        <p:spPr>
          <a:xfrm>
            <a:off x="8107680" y="1402080"/>
            <a:ext cx="3474720" cy="1158240"/>
          </a:xfrm>
          <a:prstGeom prst="rect">
            <a:avLst/>
          </a:prstGeom>
          <a:noFill/>
          <a:ln/>
        </p:spPr>
        <p:txBody>
          <a:bodyPr wrap="square" lIns="0" tIns="0" rIns="0" bIns="0" rtlCol="0" anchor="ctr"/>
          <a:lstStyle/>
          <a:p>
            <a:pPr algn="ctr" defTabSz="1219170"/>
            <a:r>
              <a:rPr lang="en-US" sz="2400" b="1" dirty="0">
                <a:solidFill>
                  <a:srgbClr val="FFFFFF"/>
                </a:solidFill>
                <a:latin typeface="Calibri" pitchFamily="34" charset="0"/>
                <a:ea typeface="Calibri" pitchFamily="34" charset="-122"/>
                <a:cs typeface="Calibri" pitchFamily="34" charset="-120"/>
              </a:rPr>
              <a:t>Alcohol spending as</a:t>
            </a:r>
            <a:endParaRPr lang="en-US" sz="2400" dirty="0">
              <a:solidFill>
                <a:prstClr val="black"/>
              </a:solidFill>
              <a:latin typeface="Calibri" panose="020F0502020204030204"/>
            </a:endParaRPr>
          </a:p>
          <a:p>
            <a:pPr algn="ctr" defTabSz="1219170"/>
            <a:r>
              <a:rPr lang="en-US" sz="2400" b="1" dirty="0">
                <a:solidFill>
                  <a:srgbClr val="FFFFFF"/>
                </a:solidFill>
                <a:latin typeface="Calibri" pitchFamily="34" charset="0"/>
                <a:ea typeface="Calibri" pitchFamily="34" charset="-122"/>
                <a:cs typeface="Calibri" pitchFamily="34" charset="-120"/>
              </a:rPr>
              <a:t>% of monthly income</a:t>
            </a:r>
            <a:endParaRPr lang="en-US" sz="2400" dirty="0">
              <a:solidFill>
                <a:prstClr val="black"/>
              </a:solidFill>
              <a:latin typeface="Calibri" panose="020F0502020204030204"/>
            </a:endParaRPr>
          </a:p>
        </p:txBody>
      </p:sp>
      <p:sp>
        <p:nvSpPr>
          <p:cNvPr id="7" name="Shape 5"/>
          <p:cNvSpPr/>
          <p:nvPr/>
        </p:nvSpPr>
        <p:spPr>
          <a:xfrm>
            <a:off x="4267200" y="1987296"/>
            <a:ext cx="3657600" cy="0"/>
          </a:xfrm>
          <a:prstGeom prst="line">
            <a:avLst/>
          </a:prstGeom>
          <a:noFill/>
          <a:ln w="50800">
            <a:solidFill>
              <a:srgbClr val="D98E04"/>
            </a:solidFill>
            <a:prstDash val="solid"/>
            <a:tailEnd type="triangle"/>
          </a:ln>
        </p:spPr>
        <p:txBody>
          <a:bodyPr/>
          <a:lstStyle/>
          <a:p>
            <a:pPr defTabSz="1219170"/>
            <a:endParaRPr lang="en-US" sz="2400">
              <a:solidFill>
                <a:prstClr val="black"/>
              </a:solidFill>
              <a:latin typeface="Calibri" panose="020F0502020204030204"/>
            </a:endParaRPr>
          </a:p>
        </p:txBody>
      </p:sp>
      <p:sp>
        <p:nvSpPr>
          <p:cNvPr id="8" name="Text 6"/>
          <p:cNvSpPr txBox="1"/>
          <p:nvPr/>
        </p:nvSpPr>
        <p:spPr>
          <a:xfrm>
            <a:off x="4267200" y="1463040"/>
            <a:ext cx="3657600" cy="365760"/>
          </a:xfrm>
          <a:prstGeom prst="rect">
            <a:avLst/>
          </a:prstGeom>
          <a:noFill/>
          <a:ln/>
        </p:spPr>
        <p:txBody>
          <a:bodyPr wrap="square" lIns="0" tIns="0" rIns="0" bIns="0" rtlCol="0" anchor="ctr"/>
          <a:lstStyle/>
          <a:p>
            <a:pPr algn="ctr" defTabSz="1219170"/>
            <a:r>
              <a:rPr lang="en-US" sz="4267" b="1" dirty="0">
                <a:solidFill>
                  <a:srgbClr val="FF0000"/>
                </a:solidFill>
                <a:latin typeface="Calibri" pitchFamily="34" charset="0"/>
                <a:ea typeface="Calibri" pitchFamily="34" charset="-122"/>
                <a:cs typeface="Calibri" pitchFamily="34" charset="-120"/>
              </a:rPr>
              <a:t>–</a:t>
            </a:r>
            <a:endParaRPr lang="en-US" sz="4267" b="1" dirty="0">
              <a:solidFill>
                <a:srgbClr val="FF0000"/>
              </a:solidFill>
              <a:latin typeface="Calibri" panose="020F0502020204030204"/>
            </a:endParaRPr>
          </a:p>
        </p:txBody>
      </p:sp>
      <p:sp>
        <p:nvSpPr>
          <p:cNvPr id="9" name="Shape 7"/>
          <p:cNvSpPr/>
          <p:nvPr/>
        </p:nvSpPr>
        <p:spPr>
          <a:xfrm>
            <a:off x="548640" y="2926080"/>
            <a:ext cx="11094720" cy="1097280"/>
          </a:xfrm>
          <a:prstGeom prst="rect">
            <a:avLst/>
          </a:prstGeom>
          <a:solidFill>
            <a:srgbClr val="F3F2F6"/>
          </a:solidFill>
          <a:ln w="12700">
            <a:solidFill>
              <a:srgbClr val="F3F2F6"/>
            </a:solidFill>
            <a:prstDash val="solid"/>
          </a:ln>
        </p:spPr>
        <p:txBody>
          <a:bodyPr/>
          <a:lstStyle/>
          <a:p>
            <a:pPr defTabSz="1219170"/>
            <a:endParaRPr lang="en-US" sz="3200">
              <a:solidFill>
                <a:prstClr val="black"/>
              </a:solidFill>
              <a:latin typeface="Calibri" panose="020F0502020204030204"/>
            </a:endParaRPr>
          </a:p>
        </p:txBody>
      </p:sp>
      <p:sp>
        <p:nvSpPr>
          <p:cNvPr id="10" name="Text 8"/>
          <p:cNvSpPr txBox="1"/>
          <p:nvPr/>
        </p:nvSpPr>
        <p:spPr>
          <a:xfrm>
            <a:off x="853440" y="2987040"/>
            <a:ext cx="10485120" cy="975360"/>
          </a:xfrm>
          <a:prstGeom prst="rect">
            <a:avLst/>
          </a:prstGeom>
          <a:noFill/>
          <a:ln/>
        </p:spPr>
        <p:txBody>
          <a:bodyPr wrap="square" lIns="0" tIns="0" rIns="0" bIns="0" rtlCol="0" anchor="ctr"/>
          <a:lstStyle/>
          <a:p>
            <a:pPr defTabSz="1219170"/>
            <a:r>
              <a:rPr lang="en-US" sz="2400" i="1" dirty="0">
                <a:solidFill>
                  <a:srgbClr val="26222B"/>
                </a:solidFill>
                <a:latin typeface="Calibri" pitchFamily="34" charset="0"/>
                <a:ea typeface="Calibri" pitchFamily="34" charset="-122"/>
                <a:cs typeface="Calibri" pitchFamily="34" charset="-120"/>
              </a:rPr>
              <a:t>Among low-income households, the shorter the network distance to the nearest off-premise outlet, the greater the share of monthly income spent on alcohol.</a:t>
            </a:r>
            <a:endParaRPr lang="en-US" sz="2400" dirty="0">
              <a:solidFill>
                <a:prstClr val="black"/>
              </a:solidFill>
              <a:latin typeface="Calibri" panose="020F0502020204030204"/>
            </a:endParaRPr>
          </a:p>
        </p:txBody>
      </p:sp>
      <p:sp>
        <p:nvSpPr>
          <p:cNvPr id="11" name="Shape 9"/>
          <p:cNvSpPr/>
          <p:nvPr/>
        </p:nvSpPr>
        <p:spPr>
          <a:xfrm>
            <a:off x="548640" y="4450080"/>
            <a:ext cx="731520" cy="731520"/>
          </a:xfrm>
          <a:prstGeom prst="ellipse">
            <a:avLst/>
          </a:prstGeom>
          <a:solidFill>
            <a:srgbClr val="D98E04"/>
          </a:solidFill>
          <a:ln w="12700">
            <a:solidFill>
              <a:srgbClr val="D98E04"/>
            </a:solidFill>
            <a:prstDash val="solid"/>
          </a:ln>
        </p:spPr>
        <p:txBody>
          <a:bodyPr/>
          <a:lstStyle/>
          <a:p>
            <a:pPr defTabSz="1219170"/>
            <a:endParaRPr lang="en-US" sz="2400">
              <a:solidFill>
                <a:prstClr val="black"/>
              </a:solidFill>
              <a:latin typeface="Calibri" panose="020F0502020204030204"/>
            </a:endParaRPr>
          </a:p>
        </p:txBody>
      </p:sp>
      <p:pic>
        <p:nvPicPr>
          <p:cNvPr id="12" name="Image 0" descr="preencoded.png"/>
          <p:cNvPicPr>
            <a:picLocks noChangeAspect="1"/>
          </p:cNvPicPr>
          <p:nvPr/>
        </p:nvPicPr>
        <p:blipFill>
          <a:blip r:embed="rId3"/>
          <a:stretch>
            <a:fillRect/>
          </a:stretch>
        </p:blipFill>
        <p:spPr>
          <a:xfrm>
            <a:off x="738836" y="4640276"/>
            <a:ext cx="351129" cy="351129"/>
          </a:xfrm>
          <a:prstGeom prst="rect">
            <a:avLst/>
          </a:prstGeom>
        </p:spPr>
      </p:pic>
      <p:sp>
        <p:nvSpPr>
          <p:cNvPr id="13" name="Text 10"/>
          <p:cNvSpPr txBox="1"/>
          <p:nvPr/>
        </p:nvSpPr>
        <p:spPr>
          <a:xfrm>
            <a:off x="1463040" y="4413504"/>
            <a:ext cx="10119360" cy="365760"/>
          </a:xfrm>
          <a:prstGeom prst="rect">
            <a:avLst/>
          </a:prstGeom>
          <a:noFill/>
          <a:ln/>
        </p:spPr>
        <p:txBody>
          <a:bodyPr wrap="square" lIns="0" tIns="0" rIns="0" bIns="0" rtlCol="0" anchor="ctr"/>
          <a:lstStyle/>
          <a:p>
            <a:pPr defTabSz="1219170"/>
            <a:r>
              <a:rPr lang="en-US" sz="1867" b="1" dirty="0">
                <a:solidFill>
                  <a:srgbClr val="26222B"/>
                </a:solidFill>
                <a:latin typeface="Calibri" pitchFamily="34" charset="0"/>
                <a:ea typeface="Calibri" pitchFamily="34" charset="-122"/>
                <a:cs typeface="Calibri" pitchFamily="34" charset="-120"/>
              </a:rPr>
              <a:t>One change from Assignment 1</a:t>
            </a:r>
            <a:endParaRPr lang="en-US" sz="1867" dirty="0">
              <a:solidFill>
                <a:prstClr val="black"/>
              </a:solidFill>
              <a:latin typeface="Calibri" panose="020F0502020204030204"/>
            </a:endParaRPr>
          </a:p>
        </p:txBody>
      </p:sp>
      <p:sp>
        <p:nvSpPr>
          <p:cNvPr id="14" name="Text 11"/>
          <p:cNvSpPr txBox="1"/>
          <p:nvPr/>
        </p:nvSpPr>
        <p:spPr>
          <a:xfrm>
            <a:off x="1463040" y="4815840"/>
            <a:ext cx="10119360" cy="975360"/>
          </a:xfrm>
          <a:prstGeom prst="rect">
            <a:avLst/>
          </a:prstGeom>
          <a:noFill/>
          <a:ln/>
        </p:spPr>
        <p:txBody>
          <a:bodyPr wrap="square" lIns="0" tIns="0" rIns="0" bIns="0" rtlCol="0" anchor="t"/>
          <a:lstStyle/>
          <a:p>
            <a:pPr defTabSz="1219170"/>
            <a:r>
              <a:rPr lang="en-US" sz="2133" dirty="0">
                <a:solidFill>
                  <a:srgbClr val="26222B"/>
                </a:solidFill>
                <a:latin typeface="Calibri" pitchFamily="34" charset="0"/>
                <a:ea typeface="Calibri" pitchFamily="34" charset="-122"/>
                <a:cs typeface="Calibri" pitchFamily="34" charset="-120"/>
              </a:rPr>
              <a:t>The hypothesis itself is unchanged. However, I now explicitly state the association as negative. The subsequent slides build on this negative relationship.</a:t>
            </a:r>
            <a:endParaRPr lang="en-US" sz="2133" dirty="0">
              <a:solidFill>
                <a:prstClr val="black"/>
              </a:solidFill>
              <a:latin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50292"/>
            <a:ext cx="11094720" cy="515112"/>
          </a:xfrm>
          <a:prstGeom prst="rect">
            <a:avLst/>
          </a:prstGeom>
          <a:noFill/>
          <a:ln/>
        </p:spPr>
        <p:txBody>
          <a:bodyPr wrap="square" lIns="0" tIns="0" rIns="0" bIns="0" rtlCol="0" anchor="ctr"/>
          <a:lstStyle/>
          <a:p>
            <a:pPr defTabSz="1219170"/>
            <a:r>
              <a:rPr lang="en-US" sz="3600" b="1" dirty="0">
                <a:solidFill>
                  <a:srgbClr val="26222B"/>
                </a:solidFill>
                <a:latin typeface="Cambria" pitchFamily="34" charset="0"/>
                <a:ea typeface="Cambria" pitchFamily="34" charset="-122"/>
                <a:cs typeface="Cambria" pitchFamily="34" charset="-120"/>
              </a:rPr>
              <a:t>The operational linkage</a:t>
            </a:r>
            <a:endParaRPr lang="en-US" sz="3600" dirty="0">
              <a:solidFill>
                <a:prstClr val="black"/>
              </a:solidFill>
              <a:latin typeface="Calibri" panose="020F0502020204030204"/>
            </a:endParaRPr>
          </a:p>
        </p:txBody>
      </p:sp>
      <p:pic>
        <p:nvPicPr>
          <p:cNvPr id="3" name="Image 0" descr="/tmp/claude-0/-home-claude/ebe111b5-50b2-551c-816b-73fdc7adf86c/scratchpad/A2/Figure1_operational_linkage.png"/>
          <p:cNvPicPr>
            <a:picLocks noChangeAspect="1"/>
          </p:cNvPicPr>
          <p:nvPr/>
        </p:nvPicPr>
        <p:blipFill>
          <a:blip r:embed="rId3"/>
          <a:stretch>
            <a:fillRect/>
          </a:stretch>
        </p:blipFill>
        <p:spPr>
          <a:xfrm>
            <a:off x="-36446" y="699518"/>
            <a:ext cx="7042815" cy="4436973"/>
          </a:xfrm>
          <a:prstGeom prst="rect">
            <a:avLst/>
          </a:prstGeom>
        </p:spPr>
      </p:pic>
      <p:sp>
        <p:nvSpPr>
          <p:cNvPr id="4" name="Text 1"/>
          <p:cNvSpPr txBox="1"/>
          <p:nvPr/>
        </p:nvSpPr>
        <p:spPr>
          <a:xfrm>
            <a:off x="548640" y="5091176"/>
            <a:ext cx="5974080" cy="316992"/>
          </a:xfrm>
          <a:prstGeom prst="rect">
            <a:avLst/>
          </a:prstGeom>
          <a:noFill/>
          <a:ln/>
        </p:spPr>
        <p:txBody>
          <a:bodyPr wrap="square" lIns="0" tIns="0" rIns="0" bIns="0" rtlCol="0" anchor="ctr"/>
          <a:lstStyle/>
          <a:p>
            <a:pPr defTabSz="1219170"/>
            <a:r>
              <a:rPr lang="en-US" sz="1333" i="1" dirty="0">
                <a:solidFill>
                  <a:srgbClr val="6B6670"/>
                </a:solidFill>
                <a:latin typeface="Calibri" pitchFamily="34" charset="0"/>
                <a:ea typeface="Calibri" pitchFamily="34" charset="-122"/>
                <a:cs typeface="Calibri" pitchFamily="34" charset="-120"/>
              </a:rPr>
              <a:t>Conceptual illustration, not data</a:t>
            </a:r>
            <a:endParaRPr lang="en-US" sz="1333" dirty="0">
              <a:solidFill>
                <a:prstClr val="black"/>
              </a:solidFill>
              <a:latin typeface="Calibri" panose="020F0502020204030204"/>
            </a:endParaRPr>
          </a:p>
        </p:txBody>
      </p:sp>
      <p:sp>
        <p:nvSpPr>
          <p:cNvPr id="5" name="Shape 2"/>
          <p:cNvSpPr/>
          <p:nvPr/>
        </p:nvSpPr>
        <p:spPr>
          <a:xfrm>
            <a:off x="7010400" y="1243584"/>
            <a:ext cx="67056" cy="755904"/>
          </a:xfrm>
          <a:prstGeom prst="rect">
            <a:avLst/>
          </a:prstGeom>
          <a:solidFill>
            <a:srgbClr val="5C5470"/>
          </a:solidFill>
          <a:ln w="12700">
            <a:solidFill>
              <a:srgbClr val="5C5470"/>
            </a:solidFill>
            <a:prstDash val="solid"/>
          </a:ln>
        </p:spPr>
        <p:txBody>
          <a:bodyPr/>
          <a:lstStyle/>
          <a:p>
            <a:pPr defTabSz="1219170"/>
            <a:endParaRPr lang="en-US" sz="2400">
              <a:solidFill>
                <a:prstClr val="black"/>
              </a:solidFill>
              <a:latin typeface="Calibri" panose="020F0502020204030204"/>
            </a:endParaRPr>
          </a:p>
        </p:txBody>
      </p:sp>
      <p:sp>
        <p:nvSpPr>
          <p:cNvPr id="6" name="Text 3"/>
          <p:cNvSpPr txBox="1"/>
          <p:nvPr/>
        </p:nvSpPr>
        <p:spPr>
          <a:xfrm>
            <a:off x="7254240" y="1219200"/>
            <a:ext cx="4389120" cy="316992"/>
          </a:xfrm>
          <a:prstGeom prst="rect">
            <a:avLst/>
          </a:prstGeom>
          <a:noFill/>
          <a:ln/>
        </p:spPr>
        <p:txBody>
          <a:bodyPr wrap="square" lIns="0" tIns="0" rIns="0" bIns="0" rtlCol="0" anchor="ctr"/>
          <a:lstStyle/>
          <a:p>
            <a:pPr defTabSz="1219170"/>
            <a:r>
              <a:rPr lang="en-US" sz="1733" b="1" dirty="0">
                <a:solidFill>
                  <a:srgbClr val="26222B"/>
                </a:solidFill>
                <a:latin typeface="Calibri" pitchFamily="34" charset="0"/>
                <a:ea typeface="Calibri" pitchFamily="34" charset="-122"/>
                <a:cs typeface="Calibri" pitchFamily="34" charset="-120"/>
              </a:rPr>
              <a:t>Form</a:t>
            </a:r>
            <a:endParaRPr lang="en-US" sz="1733" dirty="0">
              <a:solidFill>
                <a:prstClr val="black"/>
              </a:solidFill>
              <a:latin typeface="Calibri" panose="020F0502020204030204"/>
            </a:endParaRPr>
          </a:p>
        </p:txBody>
      </p:sp>
      <p:sp>
        <p:nvSpPr>
          <p:cNvPr id="7" name="Text 4"/>
          <p:cNvSpPr txBox="1"/>
          <p:nvPr/>
        </p:nvSpPr>
        <p:spPr>
          <a:xfrm>
            <a:off x="7254240" y="1524000"/>
            <a:ext cx="4389120" cy="609600"/>
          </a:xfrm>
          <a:prstGeom prst="rect">
            <a:avLst/>
          </a:prstGeom>
          <a:noFill/>
          <a:ln/>
        </p:spPr>
        <p:txBody>
          <a:bodyPr wrap="square" lIns="0" tIns="0" rIns="0" bIns="0" rtlCol="0" anchor="t"/>
          <a:lstStyle/>
          <a:p>
            <a:pPr defTabSz="1219170"/>
            <a:r>
              <a:rPr lang="en-US" sz="1400" dirty="0">
                <a:solidFill>
                  <a:prstClr val="black"/>
                </a:solidFill>
                <a:latin typeface="Calibri" pitchFamily="34" charset="0"/>
                <a:ea typeface="Calibri" pitchFamily="34" charset="-122"/>
                <a:cs typeface="Calibri" pitchFamily="34" charset="-120"/>
              </a:rPr>
              <a:t>Negatively accelerated. Steep, then flattening. Not linear, not S-shaped.</a:t>
            </a:r>
            <a:endParaRPr lang="en-US" sz="1400" dirty="0">
              <a:solidFill>
                <a:prstClr val="black"/>
              </a:solidFill>
              <a:latin typeface="Calibri" panose="020F0502020204030204"/>
            </a:endParaRPr>
          </a:p>
        </p:txBody>
      </p:sp>
      <p:sp>
        <p:nvSpPr>
          <p:cNvPr id="8" name="Shape 5"/>
          <p:cNvSpPr/>
          <p:nvPr/>
        </p:nvSpPr>
        <p:spPr>
          <a:xfrm>
            <a:off x="7010400" y="2133600"/>
            <a:ext cx="67056" cy="755904"/>
          </a:xfrm>
          <a:prstGeom prst="rect">
            <a:avLst/>
          </a:prstGeom>
          <a:solidFill>
            <a:srgbClr val="5C5470"/>
          </a:solidFill>
          <a:ln w="12700">
            <a:solidFill>
              <a:srgbClr val="5C5470"/>
            </a:solidFill>
            <a:prstDash val="solid"/>
          </a:ln>
        </p:spPr>
        <p:txBody>
          <a:bodyPr/>
          <a:lstStyle/>
          <a:p>
            <a:pPr defTabSz="1219170"/>
            <a:endParaRPr lang="en-US" sz="2400">
              <a:solidFill>
                <a:prstClr val="black"/>
              </a:solidFill>
              <a:latin typeface="Calibri" panose="020F0502020204030204"/>
            </a:endParaRPr>
          </a:p>
        </p:txBody>
      </p:sp>
      <p:sp>
        <p:nvSpPr>
          <p:cNvPr id="9" name="Text 6"/>
          <p:cNvSpPr txBox="1"/>
          <p:nvPr/>
        </p:nvSpPr>
        <p:spPr>
          <a:xfrm>
            <a:off x="7254240" y="2109216"/>
            <a:ext cx="4389120" cy="316992"/>
          </a:xfrm>
          <a:prstGeom prst="rect">
            <a:avLst/>
          </a:prstGeom>
          <a:noFill/>
          <a:ln/>
        </p:spPr>
        <p:txBody>
          <a:bodyPr wrap="square" lIns="0" tIns="0" rIns="0" bIns="0" rtlCol="0" anchor="ctr"/>
          <a:lstStyle/>
          <a:p>
            <a:pPr defTabSz="1219170"/>
            <a:r>
              <a:rPr lang="en-US" sz="1733" b="1" dirty="0">
                <a:solidFill>
                  <a:srgbClr val="26222B"/>
                </a:solidFill>
                <a:latin typeface="Calibri" pitchFamily="34" charset="0"/>
                <a:ea typeface="Calibri" pitchFamily="34" charset="-122"/>
                <a:cs typeface="Calibri" pitchFamily="34" charset="-120"/>
              </a:rPr>
              <a:t>Direction</a:t>
            </a:r>
            <a:endParaRPr lang="en-US" sz="1733" dirty="0">
              <a:solidFill>
                <a:prstClr val="black"/>
              </a:solidFill>
              <a:latin typeface="Calibri" panose="020F0502020204030204"/>
            </a:endParaRPr>
          </a:p>
        </p:txBody>
      </p:sp>
      <p:sp>
        <p:nvSpPr>
          <p:cNvPr id="10" name="Text 7"/>
          <p:cNvSpPr txBox="1"/>
          <p:nvPr/>
        </p:nvSpPr>
        <p:spPr>
          <a:xfrm>
            <a:off x="7254240" y="2414016"/>
            <a:ext cx="4389120" cy="609600"/>
          </a:xfrm>
          <a:prstGeom prst="rect">
            <a:avLst/>
          </a:prstGeom>
          <a:noFill/>
          <a:ln/>
        </p:spPr>
        <p:txBody>
          <a:bodyPr wrap="square" lIns="0" tIns="0" rIns="0" bIns="0" rtlCol="0" anchor="t"/>
          <a:lstStyle/>
          <a:p>
            <a:pPr defTabSz="1219170"/>
            <a:r>
              <a:rPr lang="en-US" sz="1400" dirty="0">
                <a:solidFill>
                  <a:prstClr val="black"/>
                </a:solidFill>
                <a:latin typeface="Calibri" pitchFamily="34" charset="0"/>
                <a:ea typeface="Calibri" pitchFamily="34" charset="-122"/>
                <a:cs typeface="Calibri" pitchFamily="34" charset="-120"/>
              </a:rPr>
              <a:t>Negative. More distance, less spending share.</a:t>
            </a:r>
            <a:endParaRPr lang="en-US" sz="1400" dirty="0">
              <a:solidFill>
                <a:prstClr val="black"/>
              </a:solidFill>
              <a:latin typeface="Calibri" panose="020F0502020204030204"/>
            </a:endParaRPr>
          </a:p>
        </p:txBody>
      </p:sp>
      <p:sp>
        <p:nvSpPr>
          <p:cNvPr id="11" name="Shape 8"/>
          <p:cNvSpPr/>
          <p:nvPr/>
        </p:nvSpPr>
        <p:spPr>
          <a:xfrm>
            <a:off x="7010400" y="3023616"/>
            <a:ext cx="67056" cy="755904"/>
          </a:xfrm>
          <a:prstGeom prst="rect">
            <a:avLst/>
          </a:prstGeom>
          <a:solidFill>
            <a:srgbClr val="5C5470"/>
          </a:solidFill>
          <a:ln w="12700">
            <a:solidFill>
              <a:srgbClr val="5C5470"/>
            </a:solidFill>
            <a:prstDash val="solid"/>
          </a:ln>
        </p:spPr>
        <p:txBody>
          <a:bodyPr/>
          <a:lstStyle/>
          <a:p>
            <a:pPr defTabSz="1219170"/>
            <a:endParaRPr lang="en-US" sz="2400">
              <a:solidFill>
                <a:prstClr val="black"/>
              </a:solidFill>
              <a:latin typeface="Calibri" panose="020F0502020204030204"/>
            </a:endParaRPr>
          </a:p>
        </p:txBody>
      </p:sp>
      <p:sp>
        <p:nvSpPr>
          <p:cNvPr id="12" name="Text 9"/>
          <p:cNvSpPr txBox="1"/>
          <p:nvPr/>
        </p:nvSpPr>
        <p:spPr>
          <a:xfrm>
            <a:off x="7254240" y="2999232"/>
            <a:ext cx="4389120" cy="316992"/>
          </a:xfrm>
          <a:prstGeom prst="rect">
            <a:avLst/>
          </a:prstGeom>
          <a:noFill/>
          <a:ln/>
        </p:spPr>
        <p:txBody>
          <a:bodyPr wrap="square" lIns="0" tIns="0" rIns="0" bIns="0" rtlCol="0" anchor="ctr"/>
          <a:lstStyle/>
          <a:p>
            <a:pPr defTabSz="1219170"/>
            <a:r>
              <a:rPr lang="en-US" sz="1733" b="1" dirty="0">
                <a:solidFill>
                  <a:srgbClr val="26222B"/>
                </a:solidFill>
                <a:latin typeface="Calibri" pitchFamily="34" charset="0"/>
                <a:ea typeface="Calibri" pitchFamily="34" charset="-122"/>
                <a:cs typeface="Calibri" pitchFamily="34" charset="-120"/>
              </a:rPr>
              <a:t>Coefficient</a:t>
            </a:r>
            <a:endParaRPr lang="en-US" sz="1733" dirty="0">
              <a:solidFill>
                <a:prstClr val="black"/>
              </a:solidFill>
              <a:latin typeface="Calibri" panose="020F0502020204030204"/>
            </a:endParaRPr>
          </a:p>
        </p:txBody>
      </p:sp>
      <p:sp>
        <p:nvSpPr>
          <p:cNvPr id="13" name="Text 10"/>
          <p:cNvSpPr txBox="1"/>
          <p:nvPr/>
        </p:nvSpPr>
        <p:spPr>
          <a:xfrm>
            <a:off x="7254240" y="3304032"/>
            <a:ext cx="4389120" cy="609600"/>
          </a:xfrm>
          <a:prstGeom prst="rect">
            <a:avLst/>
          </a:prstGeom>
          <a:noFill/>
          <a:ln/>
        </p:spPr>
        <p:txBody>
          <a:bodyPr wrap="square" lIns="0" tIns="0" rIns="0" bIns="0" rtlCol="0" anchor="t"/>
          <a:lstStyle/>
          <a:p>
            <a:pPr defTabSz="1219170"/>
            <a:r>
              <a:rPr lang="en-US" sz="1400" dirty="0">
                <a:solidFill>
                  <a:prstClr val="black"/>
                </a:solidFill>
                <a:latin typeface="Calibri" pitchFamily="34" charset="0"/>
                <a:ea typeface="Calibri" pitchFamily="34" charset="-122"/>
                <a:cs typeface="Calibri" pitchFamily="34" charset="-120"/>
              </a:rPr>
              <a:t>Moderate, about r = −0.25 to −0.35.</a:t>
            </a:r>
            <a:endParaRPr lang="en-US" sz="1400" dirty="0">
              <a:solidFill>
                <a:prstClr val="black"/>
              </a:solidFill>
              <a:latin typeface="Calibri" panose="020F0502020204030204"/>
            </a:endParaRPr>
          </a:p>
        </p:txBody>
      </p:sp>
      <p:sp>
        <p:nvSpPr>
          <p:cNvPr id="14" name="Shape 11"/>
          <p:cNvSpPr/>
          <p:nvPr/>
        </p:nvSpPr>
        <p:spPr>
          <a:xfrm>
            <a:off x="7010400" y="3913632"/>
            <a:ext cx="67056" cy="755904"/>
          </a:xfrm>
          <a:prstGeom prst="rect">
            <a:avLst/>
          </a:prstGeom>
          <a:solidFill>
            <a:srgbClr val="D98E04"/>
          </a:solidFill>
          <a:ln w="12700">
            <a:solidFill>
              <a:srgbClr val="D98E04"/>
            </a:solidFill>
            <a:prstDash val="solid"/>
          </a:ln>
        </p:spPr>
        <p:txBody>
          <a:bodyPr/>
          <a:lstStyle/>
          <a:p>
            <a:pPr defTabSz="1219170"/>
            <a:endParaRPr lang="en-US" sz="2400">
              <a:solidFill>
                <a:prstClr val="black"/>
              </a:solidFill>
              <a:latin typeface="Calibri" panose="020F0502020204030204"/>
            </a:endParaRPr>
          </a:p>
        </p:txBody>
      </p:sp>
      <p:sp>
        <p:nvSpPr>
          <p:cNvPr id="15" name="Text 12"/>
          <p:cNvSpPr txBox="1"/>
          <p:nvPr/>
        </p:nvSpPr>
        <p:spPr>
          <a:xfrm>
            <a:off x="7254240" y="3889248"/>
            <a:ext cx="4389120" cy="316992"/>
          </a:xfrm>
          <a:prstGeom prst="rect">
            <a:avLst/>
          </a:prstGeom>
          <a:noFill/>
          <a:ln/>
        </p:spPr>
        <p:txBody>
          <a:bodyPr wrap="square" lIns="0" tIns="0" rIns="0" bIns="0" rtlCol="0" anchor="ctr"/>
          <a:lstStyle/>
          <a:p>
            <a:pPr defTabSz="1219170"/>
            <a:r>
              <a:rPr lang="en-US" sz="1733" b="1" dirty="0">
                <a:solidFill>
                  <a:srgbClr val="26222B"/>
                </a:solidFill>
                <a:latin typeface="Calibri" pitchFamily="34" charset="0"/>
                <a:ea typeface="Calibri" pitchFamily="34" charset="-122"/>
                <a:cs typeface="Calibri" pitchFamily="34" charset="-120"/>
              </a:rPr>
              <a:t>Limit</a:t>
            </a:r>
            <a:endParaRPr lang="en-US" sz="1733" dirty="0">
              <a:solidFill>
                <a:prstClr val="black"/>
              </a:solidFill>
              <a:latin typeface="Calibri" panose="020F0502020204030204"/>
            </a:endParaRPr>
          </a:p>
        </p:txBody>
      </p:sp>
      <p:sp>
        <p:nvSpPr>
          <p:cNvPr id="16" name="Text 13"/>
          <p:cNvSpPr txBox="1"/>
          <p:nvPr/>
        </p:nvSpPr>
        <p:spPr>
          <a:xfrm>
            <a:off x="7254240" y="4194048"/>
            <a:ext cx="4389120" cy="609600"/>
          </a:xfrm>
          <a:prstGeom prst="rect">
            <a:avLst/>
          </a:prstGeom>
          <a:noFill/>
          <a:ln/>
        </p:spPr>
        <p:txBody>
          <a:bodyPr wrap="square" lIns="0" tIns="0" rIns="0" bIns="0" rtlCol="0" anchor="t"/>
          <a:lstStyle/>
          <a:p>
            <a:pPr defTabSz="1219170"/>
            <a:r>
              <a:rPr lang="en-US" sz="1400" dirty="0">
                <a:solidFill>
                  <a:prstClr val="black"/>
                </a:solidFill>
                <a:latin typeface="Calibri" pitchFamily="34" charset="0"/>
                <a:ea typeface="Calibri" pitchFamily="34" charset="-122"/>
                <a:cs typeface="Calibri" pitchFamily="34" charset="-120"/>
              </a:rPr>
              <a:t>Ceiling at zero distance; non-zero floor far away. The line at 0 is a false floor from the measure.</a:t>
            </a:r>
            <a:endParaRPr lang="en-US" sz="1400" dirty="0">
              <a:solidFill>
                <a:prstClr val="black"/>
              </a:solidFill>
              <a:latin typeface="Calibri" panose="020F0502020204030204"/>
            </a:endParaRPr>
          </a:p>
        </p:txBody>
      </p:sp>
      <p:sp>
        <p:nvSpPr>
          <p:cNvPr id="17" name="Shape 14"/>
          <p:cNvSpPr/>
          <p:nvPr/>
        </p:nvSpPr>
        <p:spPr>
          <a:xfrm>
            <a:off x="7010400" y="4803648"/>
            <a:ext cx="67056" cy="755904"/>
          </a:xfrm>
          <a:prstGeom prst="rect">
            <a:avLst/>
          </a:prstGeom>
          <a:solidFill>
            <a:srgbClr val="5C5470"/>
          </a:solidFill>
          <a:ln w="12700">
            <a:solidFill>
              <a:srgbClr val="5C5470"/>
            </a:solidFill>
            <a:prstDash val="solid"/>
          </a:ln>
        </p:spPr>
        <p:txBody>
          <a:bodyPr/>
          <a:lstStyle/>
          <a:p>
            <a:pPr defTabSz="1219170"/>
            <a:endParaRPr lang="en-US" sz="2400">
              <a:solidFill>
                <a:prstClr val="black"/>
              </a:solidFill>
              <a:latin typeface="Calibri" panose="020F0502020204030204"/>
            </a:endParaRPr>
          </a:p>
        </p:txBody>
      </p:sp>
      <p:sp>
        <p:nvSpPr>
          <p:cNvPr id="18" name="Text 15"/>
          <p:cNvSpPr txBox="1"/>
          <p:nvPr/>
        </p:nvSpPr>
        <p:spPr>
          <a:xfrm>
            <a:off x="7254240" y="4779264"/>
            <a:ext cx="4389120" cy="316992"/>
          </a:xfrm>
          <a:prstGeom prst="rect">
            <a:avLst/>
          </a:prstGeom>
          <a:noFill/>
          <a:ln/>
        </p:spPr>
        <p:txBody>
          <a:bodyPr wrap="square" lIns="0" tIns="0" rIns="0" bIns="0" rtlCol="0" anchor="ctr"/>
          <a:lstStyle/>
          <a:p>
            <a:pPr defTabSz="1219170"/>
            <a:r>
              <a:rPr lang="en-US" sz="1733" b="1" dirty="0">
                <a:solidFill>
                  <a:srgbClr val="26222B"/>
                </a:solidFill>
                <a:latin typeface="Calibri" pitchFamily="34" charset="0"/>
                <a:ea typeface="Calibri" pitchFamily="34" charset="-122"/>
                <a:cs typeface="Calibri" pitchFamily="34" charset="-120"/>
              </a:rPr>
              <a:t>Constant</a:t>
            </a:r>
            <a:endParaRPr lang="en-US" sz="1733" dirty="0">
              <a:solidFill>
                <a:prstClr val="black"/>
              </a:solidFill>
              <a:latin typeface="Calibri" panose="020F0502020204030204"/>
            </a:endParaRPr>
          </a:p>
        </p:txBody>
      </p:sp>
      <p:sp>
        <p:nvSpPr>
          <p:cNvPr id="19" name="Text 16"/>
          <p:cNvSpPr txBox="1"/>
          <p:nvPr/>
        </p:nvSpPr>
        <p:spPr>
          <a:xfrm>
            <a:off x="7254240" y="5084064"/>
            <a:ext cx="4389120" cy="609600"/>
          </a:xfrm>
          <a:prstGeom prst="rect">
            <a:avLst/>
          </a:prstGeom>
          <a:noFill/>
          <a:ln/>
        </p:spPr>
        <p:txBody>
          <a:bodyPr wrap="square" lIns="0" tIns="0" rIns="0" bIns="0" rtlCol="0" anchor="t"/>
          <a:lstStyle/>
          <a:p>
            <a:pPr defTabSz="1219170"/>
            <a:r>
              <a:rPr lang="en-US" sz="1400" dirty="0">
                <a:solidFill>
                  <a:prstClr val="black"/>
                </a:solidFill>
                <a:latin typeface="Calibri" pitchFamily="34" charset="0"/>
                <a:ea typeface="Calibri" pitchFamily="34" charset="-122"/>
                <a:cs typeface="Calibri" pitchFamily="34" charset="-120"/>
              </a:rPr>
              <a:t>The y-intercept sits at the ceiling, not at the origin.</a:t>
            </a:r>
            <a:endParaRPr lang="en-US" sz="1400" dirty="0">
              <a:solidFill>
                <a:prstClr val="black"/>
              </a:solidFill>
              <a:latin typeface="Calibri" panose="020F0502020204030204"/>
            </a:endParaRPr>
          </a:p>
        </p:txBody>
      </p:sp>
      <p:sp>
        <p:nvSpPr>
          <p:cNvPr id="20" name="Shape 17"/>
          <p:cNvSpPr/>
          <p:nvPr/>
        </p:nvSpPr>
        <p:spPr>
          <a:xfrm>
            <a:off x="548640" y="5483352"/>
            <a:ext cx="11094720" cy="1298448"/>
          </a:xfrm>
          <a:prstGeom prst="rect">
            <a:avLst/>
          </a:prstGeom>
          <a:solidFill>
            <a:srgbClr val="1F1B24"/>
          </a:solidFill>
          <a:ln w="12700">
            <a:solidFill>
              <a:srgbClr val="1F1B24"/>
            </a:solidFill>
            <a:prstDash val="solid"/>
          </a:ln>
        </p:spPr>
        <p:txBody>
          <a:bodyPr/>
          <a:lstStyle/>
          <a:p>
            <a:pPr defTabSz="1219170"/>
            <a:endParaRPr lang="en-US" sz="2400">
              <a:solidFill>
                <a:prstClr val="black"/>
              </a:solidFill>
              <a:latin typeface="Calibri" panose="020F0502020204030204"/>
            </a:endParaRPr>
          </a:p>
        </p:txBody>
      </p:sp>
      <p:sp>
        <p:nvSpPr>
          <p:cNvPr id="21" name="Text 18"/>
          <p:cNvSpPr txBox="1"/>
          <p:nvPr/>
        </p:nvSpPr>
        <p:spPr>
          <a:xfrm>
            <a:off x="853440" y="5803392"/>
            <a:ext cx="10485120" cy="780288"/>
          </a:xfrm>
          <a:prstGeom prst="rect">
            <a:avLst/>
          </a:prstGeom>
          <a:noFill/>
          <a:ln/>
        </p:spPr>
        <p:txBody>
          <a:bodyPr wrap="square" lIns="0" tIns="0" rIns="0" bIns="0" rtlCol="0" anchor="ctr"/>
          <a:lstStyle/>
          <a:p>
            <a:pPr defTabSz="1219170"/>
            <a:r>
              <a:rPr lang="en-US" sz="2133" b="1" dirty="0">
                <a:solidFill>
                  <a:srgbClr val="D98E04"/>
                </a:solidFill>
                <a:latin typeface="Calibri" pitchFamily="34" charset="0"/>
                <a:ea typeface="Calibri" pitchFamily="34" charset="-122"/>
                <a:cs typeface="Calibri" pitchFamily="34" charset="-120"/>
              </a:rPr>
              <a:t>Why this shape?  </a:t>
            </a:r>
            <a:r>
              <a:rPr lang="en-US" sz="2133" dirty="0">
                <a:solidFill>
                  <a:srgbClr val="FFFFFF"/>
                </a:solidFill>
                <a:latin typeface="Calibri" pitchFamily="34" charset="0"/>
                <a:ea typeface="Calibri" pitchFamily="34" charset="-122"/>
                <a:cs typeface="Calibri" pitchFamily="34" charset="-120"/>
              </a:rPr>
              <a:t>What matters is whether the outlet sits on a route you already travel. That threshold is crossed within a few blocks, which gives the steep segment. Once the trip is already deliberate, another mile changes little.</a:t>
            </a:r>
            <a:endParaRPr lang="en-US" sz="2133" dirty="0">
              <a:solidFill>
                <a:prstClr val="black"/>
              </a:solidFill>
              <a:latin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16992"/>
            <a:ext cx="11094720" cy="755904"/>
          </a:xfrm>
          <a:prstGeom prst="rect">
            <a:avLst/>
          </a:prstGeom>
          <a:noFill/>
          <a:ln/>
        </p:spPr>
        <p:txBody>
          <a:bodyPr wrap="square" lIns="0" tIns="0" rIns="0" bIns="0" rtlCol="0" anchor="ctr"/>
          <a:lstStyle/>
          <a:p>
            <a:pPr defTabSz="1219170"/>
            <a:r>
              <a:rPr lang="en-US" sz="3600" b="1" dirty="0">
                <a:solidFill>
                  <a:srgbClr val="26222B"/>
                </a:solidFill>
                <a:latin typeface="Cambria" pitchFamily="34" charset="0"/>
                <a:ea typeface="Cambria" pitchFamily="34" charset="-122"/>
                <a:cs typeface="Cambria" pitchFamily="34" charset="-120"/>
              </a:rPr>
              <a:t>The third variable</a:t>
            </a:r>
            <a:endParaRPr lang="en-US" sz="3600" dirty="0">
              <a:solidFill>
                <a:prstClr val="black"/>
              </a:solidFill>
              <a:latin typeface="Calibri" panose="020F0502020204030204"/>
            </a:endParaRPr>
          </a:p>
        </p:txBody>
      </p:sp>
      <p:sp>
        <p:nvSpPr>
          <p:cNvPr id="3" name="Shape 1"/>
          <p:cNvSpPr/>
          <p:nvPr/>
        </p:nvSpPr>
        <p:spPr>
          <a:xfrm>
            <a:off x="548640" y="1341120"/>
            <a:ext cx="5242560" cy="2865120"/>
          </a:xfrm>
          <a:prstGeom prst="rect">
            <a:avLst/>
          </a:prstGeom>
          <a:solidFill>
            <a:srgbClr val="1F1B24"/>
          </a:solidFill>
          <a:ln w="12700">
            <a:solidFill>
              <a:srgbClr val="1F1B24"/>
            </a:solidFill>
            <a:prstDash val="solid"/>
          </a:ln>
        </p:spPr>
        <p:txBody>
          <a:bodyPr/>
          <a:lstStyle/>
          <a:p>
            <a:pPr defTabSz="1219170"/>
            <a:endParaRPr lang="en-US" sz="2400">
              <a:solidFill>
                <a:prstClr val="black"/>
              </a:solidFill>
              <a:latin typeface="Calibri" panose="020F0502020204030204"/>
            </a:endParaRPr>
          </a:p>
        </p:txBody>
      </p:sp>
      <p:sp>
        <p:nvSpPr>
          <p:cNvPr id="4" name="Text 2"/>
          <p:cNvSpPr txBox="1"/>
          <p:nvPr/>
        </p:nvSpPr>
        <p:spPr>
          <a:xfrm>
            <a:off x="914400" y="1584960"/>
            <a:ext cx="4511040" cy="341376"/>
          </a:xfrm>
          <a:prstGeom prst="rect">
            <a:avLst/>
          </a:prstGeom>
          <a:noFill/>
          <a:ln/>
        </p:spPr>
        <p:txBody>
          <a:bodyPr wrap="square" lIns="0" tIns="0" rIns="0" bIns="0" rtlCol="0" anchor="ctr"/>
          <a:lstStyle/>
          <a:p>
            <a:pPr defTabSz="1219170"/>
            <a:r>
              <a:rPr lang="en-US" sz="1467" b="1" kern="0" spc="267" dirty="0">
                <a:solidFill>
                  <a:srgbClr val="D98E04"/>
                </a:solidFill>
                <a:latin typeface="Calibri" pitchFamily="34" charset="0"/>
                <a:ea typeface="Calibri" pitchFamily="34" charset="-122"/>
                <a:cs typeface="Calibri" pitchFamily="34" charset="-120"/>
              </a:rPr>
              <a:t>CONCEPT</a:t>
            </a:r>
            <a:endParaRPr lang="en-US" sz="1467" dirty="0">
              <a:solidFill>
                <a:prstClr val="black"/>
              </a:solidFill>
              <a:latin typeface="Calibri" panose="020F0502020204030204"/>
            </a:endParaRPr>
          </a:p>
        </p:txBody>
      </p:sp>
      <p:sp>
        <p:nvSpPr>
          <p:cNvPr id="5" name="Text 3"/>
          <p:cNvSpPr txBox="1"/>
          <p:nvPr/>
        </p:nvSpPr>
        <p:spPr>
          <a:xfrm>
            <a:off x="914400" y="1950720"/>
            <a:ext cx="4511040" cy="670560"/>
          </a:xfrm>
          <a:prstGeom prst="rect">
            <a:avLst/>
          </a:prstGeom>
          <a:noFill/>
          <a:ln/>
        </p:spPr>
        <p:txBody>
          <a:bodyPr wrap="square" lIns="0" tIns="0" rIns="0" bIns="0" rtlCol="0" anchor="t"/>
          <a:lstStyle/>
          <a:p>
            <a:pPr defTabSz="1219170"/>
            <a:r>
              <a:rPr lang="en-US" sz="2667" b="1" dirty="0">
                <a:solidFill>
                  <a:srgbClr val="FFFFFF"/>
                </a:solidFill>
                <a:latin typeface="Cambria" pitchFamily="34" charset="0"/>
                <a:ea typeface="Cambria" pitchFamily="34" charset="-122"/>
                <a:cs typeface="Cambria" pitchFamily="34" charset="-120"/>
              </a:rPr>
              <a:t>Household mobility resources</a:t>
            </a:r>
            <a:endParaRPr lang="en-US" sz="2667" dirty="0">
              <a:solidFill>
                <a:prstClr val="black"/>
              </a:solidFill>
              <a:latin typeface="Calibri" panose="020F0502020204030204"/>
            </a:endParaRPr>
          </a:p>
        </p:txBody>
      </p:sp>
      <p:sp>
        <p:nvSpPr>
          <p:cNvPr id="6" name="Text 4"/>
          <p:cNvSpPr txBox="1"/>
          <p:nvPr/>
        </p:nvSpPr>
        <p:spPr>
          <a:xfrm>
            <a:off x="914400" y="2743200"/>
            <a:ext cx="4511040" cy="1219200"/>
          </a:xfrm>
          <a:prstGeom prst="rect">
            <a:avLst/>
          </a:prstGeom>
          <a:noFill/>
          <a:ln/>
        </p:spPr>
        <p:txBody>
          <a:bodyPr wrap="square" lIns="0" tIns="0" rIns="0" bIns="0" rtlCol="0" anchor="t"/>
          <a:lstStyle/>
          <a:p>
            <a:pPr defTabSz="1219170"/>
            <a:r>
              <a:rPr lang="en-US" sz="1600" dirty="0">
                <a:solidFill>
                  <a:srgbClr val="D8D4DE"/>
                </a:solidFill>
                <a:latin typeface="Calibri" pitchFamily="34" charset="0"/>
                <a:ea typeface="Calibri" pitchFamily="34" charset="-122"/>
                <a:cs typeface="Calibri" pitchFamily="34" charset="-120"/>
              </a:rPr>
              <a:t>The means available to a household for covering physical distance in the course of its daily activities.</a:t>
            </a:r>
            <a:endParaRPr lang="en-US" sz="1600" dirty="0">
              <a:solidFill>
                <a:prstClr val="black"/>
              </a:solidFill>
              <a:latin typeface="Calibri" panose="020F0502020204030204"/>
            </a:endParaRPr>
          </a:p>
        </p:txBody>
      </p:sp>
      <p:sp>
        <p:nvSpPr>
          <p:cNvPr id="7" name="Shape 5"/>
          <p:cNvSpPr/>
          <p:nvPr/>
        </p:nvSpPr>
        <p:spPr>
          <a:xfrm>
            <a:off x="6217920" y="1463040"/>
            <a:ext cx="755904" cy="755904"/>
          </a:xfrm>
          <a:prstGeom prst="ellipse">
            <a:avLst/>
          </a:prstGeom>
          <a:solidFill>
            <a:srgbClr val="D98E04"/>
          </a:solidFill>
          <a:ln w="12700">
            <a:solidFill>
              <a:srgbClr val="D98E04"/>
            </a:solidFill>
            <a:prstDash val="solid"/>
          </a:ln>
        </p:spPr>
        <p:txBody>
          <a:bodyPr/>
          <a:lstStyle/>
          <a:p>
            <a:pPr defTabSz="1219170"/>
            <a:endParaRPr lang="en-US" sz="2400">
              <a:solidFill>
                <a:prstClr val="black"/>
              </a:solidFill>
              <a:latin typeface="Calibri" panose="020F0502020204030204"/>
            </a:endParaRPr>
          </a:p>
        </p:txBody>
      </p:sp>
      <p:pic>
        <p:nvPicPr>
          <p:cNvPr id="8" name="Image 0" descr="preencoded.png"/>
          <p:cNvPicPr>
            <a:picLocks noChangeAspect="1"/>
          </p:cNvPicPr>
          <p:nvPr/>
        </p:nvPicPr>
        <p:blipFill>
          <a:blip r:embed="rId3"/>
          <a:stretch>
            <a:fillRect/>
          </a:stretch>
        </p:blipFill>
        <p:spPr>
          <a:xfrm>
            <a:off x="6414456" y="1659576"/>
            <a:ext cx="362833" cy="362833"/>
          </a:xfrm>
          <a:prstGeom prst="rect">
            <a:avLst/>
          </a:prstGeom>
        </p:spPr>
      </p:pic>
      <p:sp>
        <p:nvSpPr>
          <p:cNvPr id="9" name="Text 6"/>
          <p:cNvSpPr txBox="1"/>
          <p:nvPr/>
        </p:nvSpPr>
        <p:spPr>
          <a:xfrm>
            <a:off x="7193280" y="1402080"/>
            <a:ext cx="4389120" cy="390144"/>
          </a:xfrm>
          <a:prstGeom prst="rect">
            <a:avLst/>
          </a:prstGeom>
          <a:noFill/>
          <a:ln/>
        </p:spPr>
        <p:txBody>
          <a:bodyPr wrap="square" lIns="0" tIns="0" rIns="0" bIns="0" rtlCol="0" anchor="ctr"/>
          <a:lstStyle/>
          <a:p>
            <a:pPr defTabSz="1219170"/>
            <a:r>
              <a:rPr lang="en-US" sz="1867" b="1" dirty="0">
                <a:solidFill>
                  <a:srgbClr val="26222B"/>
                </a:solidFill>
                <a:latin typeface="Calibri" pitchFamily="34" charset="0"/>
                <a:ea typeface="Calibri" pitchFamily="34" charset="-122"/>
                <a:cs typeface="Calibri" pitchFamily="34" charset="-120"/>
              </a:rPr>
              <a:t>Private vehicle access</a:t>
            </a:r>
            <a:endParaRPr lang="en-US" sz="1867" dirty="0">
              <a:solidFill>
                <a:prstClr val="black"/>
              </a:solidFill>
              <a:latin typeface="Calibri" panose="020F0502020204030204"/>
            </a:endParaRPr>
          </a:p>
        </p:txBody>
      </p:sp>
      <p:sp>
        <p:nvSpPr>
          <p:cNvPr id="10" name="Text 7"/>
          <p:cNvSpPr txBox="1"/>
          <p:nvPr/>
        </p:nvSpPr>
        <p:spPr>
          <a:xfrm>
            <a:off x="7193280" y="1792224"/>
            <a:ext cx="4389120" cy="853440"/>
          </a:xfrm>
          <a:prstGeom prst="rect">
            <a:avLst/>
          </a:prstGeom>
          <a:noFill/>
          <a:ln/>
        </p:spPr>
        <p:txBody>
          <a:bodyPr wrap="square" lIns="0" tIns="0" rIns="0" bIns="0" rtlCol="0" anchor="t"/>
          <a:lstStyle/>
          <a:p>
            <a:pPr defTabSz="1219170"/>
            <a:r>
              <a:rPr lang="en-US" sz="1533" dirty="0">
                <a:solidFill>
                  <a:srgbClr val="6B6670"/>
                </a:solidFill>
                <a:latin typeface="Calibri" pitchFamily="34" charset="0"/>
                <a:ea typeface="Calibri" pitchFamily="34" charset="-122"/>
                <a:cs typeface="Calibri" pitchFamily="34" charset="-120"/>
              </a:rPr>
              <a:t>Whether a working vehicle is available for routine trips.</a:t>
            </a:r>
            <a:endParaRPr lang="en-US" sz="1533" dirty="0">
              <a:solidFill>
                <a:prstClr val="black"/>
              </a:solidFill>
              <a:latin typeface="Calibri" panose="020F0502020204030204"/>
            </a:endParaRPr>
          </a:p>
        </p:txBody>
      </p:sp>
      <p:sp>
        <p:nvSpPr>
          <p:cNvPr id="11" name="Shape 8"/>
          <p:cNvSpPr/>
          <p:nvPr/>
        </p:nvSpPr>
        <p:spPr>
          <a:xfrm>
            <a:off x="6217920" y="2926080"/>
            <a:ext cx="755904" cy="755904"/>
          </a:xfrm>
          <a:prstGeom prst="ellipse">
            <a:avLst/>
          </a:prstGeom>
          <a:solidFill>
            <a:srgbClr val="5C5470"/>
          </a:solidFill>
          <a:ln w="12700">
            <a:solidFill>
              <a:srgbClr val="5C5470"/>
            </a:solidFill>
            <a:prstDash val="solid"/>
          </a:ln>
        </p:spPr>
        <p:txBody>
          <a:bodyPr/>
          <a:lstStyle/>
          <a:p>
            <a:pPr defTabSz="1219170"/>
            <a:endParaRPr lang="en-US" sz="2400">
              <a:solidFill>
                <a:prstClr val="black"/>
              </a:solidFill>
              <a:latin typeface="Calibri" panose="020F0502020204030204"/>
            </a:endParaRPr>
          </a:p>
        </p:txBody>
      </p:sp>
      <p:pic>
        <p:nvPicPr>
          <p:cNvPr id="12" name="Image 1" descr="preencoded.png"/>
          <p:cNvPicPr>
            <a:picLocks noChangeAspect="1"/>
          </p:cNvPicPr>
          <p:nvPr/>
        </p:nvPicPr>
        <p:blipFill>
          <a:blip r:embed="rId4"/>
          <a:stretch>
            <a:fillRect/>
          </a:stretch>
        </p:blipFill>
        <p:spPr>
          <a:xfrm>
            <a:off x="6414456" y="3122616"/>
            <a:ext cx="362833" cy="362833"/>
          </a:xfrm>
          <a:prstGeom prst="rect">
            <a:avLst/>
          </a:prstGeom>
        </p:spPr>
      </p:pic>
      <p:sp>
        <p:nvSpPr>
          <p:cNvPr id="13" name="Text 9"/>
          <p:cNvSpPr txBox="1"/>
          <p:nvPr/>
        </p:nvSpPr>
        <p:spPr>
          <a:xfrm>
            <a:off x="7193280" y="2865120"/>
            <a:ext cx="4389120" cy="390144"/>
          </a:xfrm>
          <a:prstGeom prst="rect">
            <a:avLst/>
          </a:prstGeom>
          <a:noFill/>
          <a:ln/>
        </p:spPr>
        <p:txBody>
          <a:bodyPr wrap="square" lIns="0" tIns="0" rIns="0" bIns="0" rtlCol="0" anchor="ctr"/>
          <a:lstStyle/>
          <a:p>
            <a:pPr defTabSz="1219170"/>
            <a:r>
              <a:rPr lang="en-US" sz="1867" b="1" dirty="0">
                <a:solidFill>
                  <a:srgbClr val="26222B"/>
                </a:solidFill>
                <a:latin typeface="Calibri" pitchFamily="34" charset="0"/>
                <a:ea typeface="Calibri" pitchFamily="34" charset="-122"/>
                <a:cs typeface="Calibri" pitchFamily="34" charset="-120"/>
              </a:rPr>
              <a:t>Public transit access</a:t>
            </a:r>
            <a:endParaRPr lang="en-US" sz="1867" dirty="0">
              <a:solidFill>
                <a:prstClr val="black"/>
              </a:solidFill>
              <a:latin typeface="Calibri" panose="020F0502020204030204"/>
            </a:endParaRPr>
          </a:p>
        </p:txBody>
      </p:sp>
      <p:sp>
        <p:nvSpPr>
          <p:cNvPr id="14" name="Text 10"/>
          <p:cNvSpPr txBox="1"/>
          <p:nvPr/>
        </p:nvSpPr>
        <p:spPr>
          <a:xfrm>
            <a:off x="7193280" y="3255264"/>
            <a:ext cx="4389120" cy="853440"/>
          </a:xfrm>
          <a:prstGeom prst="rect">
            <a:avLst/>
          </a:prstGeom>
          <a:noFill/>
          <a:ln/>
        </p:spPr>
        <p:txBody>
          <a:bodyPr wrap="square" lIns="0" tIns="0" rIns="0" bIns="0" rtlCol="0" anchor="t"/>
          <a:lstStyle/>
          <a:p>
            <a:pPr defTabSz="1219170"/>
            <a:r>
              <a:rPr lang="en-US" sz="1533" dirty="0">
                <a:solidFill>
                  <a:srgbClr val="6B6670"/>
                </a:solidFill>
                <a:latin typeface="Calibri" pitchFamily="34" charset="0"/>
                <a:ea typeface="Calibri" pitchFamily="34" charset="-122"/>
                <a:cs typeface="Calibri" pitchFamily="34" charset="-120"/>
              </a:rPr>
              <a:t>Proximity and service frequency of transit at the residence.</a:t>
            </a:r>
            <a:endParaRPr lang="en-US" sz="1533" dirty="0">
              <a:solidFill>
                <a:prstClr val="black"/>
              </a:solidFill>
              <a:latin typeface="Calibri" panose="020F0502020204030204"/>
            </a:endParaRPr>
          </a:p>
        </p:txBody>
      </p:sp>
      <p:sp>
        <p:nvSpPr>
          <p:cNvPr id="15" name="Shape 11"/>
          <p:cNvSpPr/>
          <p:nvPr/>
        </p:nvSpPr>
        <p:spPr>
          <a:xfrm>
            <a:off x="6217920" y="4389120"/>
            <a:ext cx="5425440" cy="1036320"/>
          </a:xfrm>
          <a:prstGeom prst="roundRect">
            <a:avLst>
              <a:gd name="adj" fmla="val 9412"/>
            </a:avLst>
          </a:prstGeom>
          <a:solidFill>
            <a:srgbClr val="F3F2F6"/>
          </a:solidFill>
          <a:ln w="12700">
            <a:solidFill>
              <a:srgbClr val="F3F2F6"/>
            </a:solidFill>
            <a:prstDash val="solid"/>
          </a:ln>
        </p:spPr>
        <p:txBody>
          <a:bodyPr/>
          <a:lstStyle/>
          <a:p>
            <a:pPr defTabSz="1219170"/>
            <a:endParaRPr lang="en-US" sz="2400">
              <a:solidFill>
                <a:prstClr val="black"/>
              </a:solidFill>
              <a:latin typeface="Calibri" panose="020F0502020204030204"/>
            </a:endParaRPr>
          </a:p>
        </p:txBody>
      </p:sp>
      <p:sp>
        <p:nvSpPr>
          <p:cNvPr id="16" name="Text 12"/>
          <p:cNvSpPr txBox="1"/>
          <p:nvPr/>
        </p:nvSpPr>
        <p:spPr>
          <a:xfrm>
            <a:off x="6461760" y="4450080"/>
            <a:ext cx="4998720" cy="365760"/>
          </a:xfrm>
          <a:prstGeom prst="rect">
            <a:avLst/>
          </a:prstGeom>
          <a:noFill/>
          <a:ln/>
        </p:spPr>
        <p:txBody>
          <a:bodyPr wrap="square" lIns="0" tIns="0" rIns="0" bIns="0" rtlCol="0" anchor="ctr"/>
          <a:lstStyle/>
          <a:p>
            <a:pPr defTabSz="1219170"/>
            <a:r>
              <a:rPr lang="en-US" sz="1733" b="1" dirty="0">
                <a:solidFill>
                  <a:srgbClr val="26222B"/>
                </a:solidFill>
                <a:latin typeface="Calibri" pitchFamily="34" charset="0"/>
                <a:ea typeface="Calibri" pitchFamily="34" charset="-122"/>
                <a:cs typeface="Calibri" pitchFamily="34" charset="-120"/>
              </a:rPr>
              <a:t>Variable: </a:t>
            </a:r>
            <a:r>
              <a:rPr lang="en-US" sz="1733" b="1" dirty="0">
                <a:solidFill>
                  <a:srgbClr val="8A5A02"/>
                </a:solidFill>
                <a:latin typeface="Calibri" pitchFamily="34" charset="0"/>
                <a:ea typeface="Calibri" pitchFamily="34" charset="-122"/>
                <a:cs typeface="Calibri" pitchFamily="34" charset="-120"/>
              </a:rPr>
              <a:t>household vehicle access</a:t>
            </a:r>
            <a:endParaRPr lang="en-US" sz="1733" dirty="0">
              <a:solidFill>
                <a:prstClr val="black"/>
              </a:solidFill>
              <a:latin typeface="Calibri" panose="020F0502020204030204"/>
            </a:endParaRPr>
          </a:p>
        </p:txBody>
      </p:sp>
      <p:sp>
        <p:nvSpPr>
          <p:cNvPr id="17" name="Text 13"/>
          <p:cNvSpPr txBox="1"/>
          <p:nvPr/>
        </p:nvSpPr>
        <p:spPr>
          <a:xfrm>
            <a:off x="6461760" y="4828032"/>
            <a:ext cx="4998720" cy="548640"/>
          </a:xfrm>
          <a:prstGeom prst="rect">
            <a:avLst/>
          </a:prstGeom>
          <a:noFill/>
          <a:ln/>
        </p:spPr>
        <p:txBody>
          <a:bodyPr wrap="square" lIns="0" tIns="0" rIns="0" bIns="0" rtlCol="0" anchor="t"/>
          <a:lstStyle/>
          <a:p>
            <a:pPr defTabSz="1219170"/>
            <a:r>
              <a:rPr lang="en-US" sz="1467" dirty="0">
                <a:solidFill>
                  <a:srgbClr val="6B6670"/>
                </a:solidFill>
                <a:latin typeface="Calibri" pitchFamily="34" charset="0"/>
                <a:ea typeface="Calibri" pitchFamily="34" charset="-122"/>
                <a:cs typeface="Calibri" pitchFamily="34" charset="-120"/>
              </a:rPr>
              <a:t>Transit routes are fixed and do not adapt to the errand being run.</a:t>
            </a:r>
            <a:endParaRPr lang="en-US" sz="1467" dirty="0">
              <a:solidFill>
                <a:prstClr val="black"/>
              </a:solidFill>
              <a:latin typeface="Calibri" panose="020F0502020204030204"/>
            </a:endParaRPr>
          </a:p>
        </p:txBody>
      </p:sp>
      <p:sp>
        <p:nvSpPr>
          <p:cNvPr id="18" name="Shape 14"/>
          <p:cNvSpPr/>
          <p:nvPr/>
        </p:nvSpPr>
        <p:spPr>
          <a:xfrm>
            <a:off x="548640" y="4486656"/>
            <a:ext cx="5242560" cy="1706880"/>
          </a:xfrm>
          <a:prstGeom prst="roundRect">
            <a:avLst>
              <a:gd name="adj" fmla="val 5714"/>
            </a:avLst>
          </a:prstGeom>
          <a:solidFill>
            <a:srgbClr val="FFFFFF"/>
          </a:solidFill>
          <a:ln w="12700">
            <a:solidFill>
              <a:srgbClr val="5C5470"/>
            </a:solidFill>
            <a:prstDash val="dash"/>
          </a:ln>
        </p:spPr>
        <p:txBody>
          <a:bodyPr/>
          <a:lstStyle/>
          <a:p>
            <a:pPr defTabSz="1219170"/>
            <a:endParaRPr lang="en-US" sz="2400">
              <a:solidFill>
                <a:prstClr val="black"/>
              </a:solidFill>
              <a:latin typeface="Calibri" panose="020F0502020204030204"/>
            </a:endParaRPr>
          </a:p>
        </p:txBody>
      </p:sp>
      <p:sp>
        <p:nvSpPr>
          <p:cNvPr id="19" name="Text 15"/>
          <p:cNvSpPr txBox="1"/>
          <p:nvPr/>
        </p:nvSpPr>
        <p:spPr>
          <a:xfrm>
            <a:off x="829056" y="4584192"/>
            <a:ext cx="4693920" cy="1524000"/>
          </a:xfrm>
          <a:prstGeom prst="rect">
            <a:avLst/>
          </a:prstGeom>
          <a:noFill/>
          <a:ln/>
        </p:spPr>
        <p:txBody>
          <a:bodyPr wrap="square" lIns="0" tIns="0" rIns="0" bIns="0" rtlCol="0" anchor="ctr"/>
          <a:lstStyle/>
          <a:p>
            <a:pPr defTabSz="1219170"/>
            <a:r>
              <a:rPr lang="en-US" sz="1533" dirty="0">
                <a:solidFill>
                  <a:srgbClr val="26222B"/>
                </a:solidFill>
                <a:latin typeface="Calibri" pitchFamily="34" charset="0"/>
                <a:ea typeface="Calibri" pitchFamily="34" charset="-122"/>
                <a:cs typeface="Calibri" pitchFamily="34" charset="-120"/>
              </a:rPr>
              <a:t>Low income stays the scope condition, not this variable. Within low-income households, vehicle access varies a great deal, and that variation is exactly what I want.</a:t>
            </a:r>
            <a:endParaRPr lang="en-US" sz="1533" dirty="0">
              <a:solidFill>
                <a:prstClr val="black"/>
              </a:solidFill>
              <a:latin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117349"/>
            <a:ext cx="4937760" cy="755904"/>
          </a:xfrm>
          <a:prstGeom prst="rect">
            <a:avLst/>
          </a:prstGeom>
          <a:noFill/>
          <a:ln/>
        </p:spPr>
        <p:txBody>
          <a:bodyPr wrap="square" lIns="0" tIns="0" rIns="0" bIns="0" rtlCol="0" anchor="ctr"/>
          <a:lstStyle/>
          <a:p>
            <a:pPr defTabSz="1219170"/>
            <a:r>
              <a:rPr lang="en-US" sz="3600" b="1" dirty="0">
                <a:solidFill>
                  <a:srgbClr val="26222B"/>
                </a:solidFill>
                <a:latin typeface="Cambria" pitchFamily="34" charset="0"/>
                <a:ea typeface="Cambria" pitchFamily="34" charset="-122"/>
                <a:cs typeface="Cambria" pitchFamily="34" charset="-120"/>
              </a:rPr>
              <a:t>Role 1: spurious</a:t>
            </a:r>
            <a:endParaRPr lang="en-US" sz="3600" dirty="0">
              <a:solidFill>
                <a:prstClr val="black"/>
              </a:solidFill>
              <a:latin typeface="Calibri" panose="020F0502020204030204"/>
            </a:endParaRPr>
          </a:p>
        </p:txBody>
      </p:sp>
      <p:pic>
        <p:nvPicPr>
          <p:cNvPr id="3" name="Image 0" descr="/tmp/claude-0/-home-claude/ebe111b5-50b2-551c-816b-73fdc7adf86c/scratchpad/A2/Figure2_spurious.png"/>
          <p:cNvPicPr>
            <a:picLocks noChangeAspect="1"/>
          </p:cNvPicPr>
          <p:nvPr/>
        </p:nvPicPr>
        <p:blipFill>
          <a:blip r:embed="rId3"/>
          <a:stretch>
            <a:fillRect/>
          </a:stretch>
        </p:blipFill>
        <p:spPr>
          <a:xfrm>
            <a:off x="1" y="800101"/>
            <a:ext cx="7462248" cy="5499099"/>
          </a:xfrm>
          <a:prstGeom prst="rect">
            <a:avLst/>
          </a:prstGeom>
        </p:spPr>
      </p:pic>
      <p:sp>
        <p:nvSpPr>
          <p:cNvPr id="4" name="Text 1"/>
          <p:cNvSpPr txBox="1"/>
          <p:nvPr/>
        </p:nvSpPr>
        <p:spPr>
          <a:xfrm>
            <a:off x="7381240" y="213359"/>
            <a:ext cx="4693920" cy="5499099"/>
          </a:xfrm>
          <a:prstGeom prst="rect">
            <a:avLst/>
          </a:prstGeom>
          <a:solidFill>
            <a:schemeClr val="accent4">
              <a:lumMod val="20000"/>
              <a:lumOff val="80000"/>
            </a:schemeClr>
          </a:solidFill>
          <a:ln/>
        </p:spPr>
        <p:txBody>
          <a:bodyPr wrap="square" rtlCol="0" anchor="t"/>
          <a:lstStyle/>
          <a:p>
            <a:pPr marL="457189" indent="-457189" defTabSz="1219170">
              <a:spcAft>
                <a:spcPts val="800"/>
              </a:spcAft>
              <a:buSzPct val="100000"/>
              <a:buFontTx/>
              <a:buChar char="•"/>
            </a:pPr>
            <a:r>
              <a:rPr lang="en-US" sz="2133" b="1" dirty="0">
                <a:solidFill>
                  <a:srgbClr val="26222B"/>
                </a:solidFill>
                <a:latin typeface="Calibri" pitchFamily="34" charset="0"/>
                <a:ea typeface="Calibri" pitchFamily="34" charset="-122"/>
                <a:cs typeface="Calibri" pitchFamily="34" charset="-120"/>
              </a:rPr>
              <a:t>On the X side</a:t>
            </a:r>
            <a:r>
              <a:rPr lang="en-US" sz="2133" dirty="0">
                <a:solidFill>
                  <a:srgbClr val="26222B"/>
                </a:solidFill>
                <a:latin typeface="Calibri" pitchFamily="34" charset="0"/>
                <a:ea typeface="Calibri" pitchFamily="34" charset="-122"/>
                <a:cs typeface="Calibri" pitchFamily="34" charset="-120"/>
              </a:rPr>
              <a:t>: households with a car can live in lower-density areas where outlets are spaced further apart. Carless households are pushed toward dense neighborhoods where outlets cluster.</a:t>
            </a:r>
            <a:endParaRPr lang="en-US" sz="2133" dirty="0">
              <a:solidFill>
                <a:prstClr val="black"/>
              </a:solidFill>
              <a:latin typeface="Calibri" panose="020F0502020204030204"/>
            </a:endParaRPr>
          </a:p>
          <a:p>
            <a:pPr marL="457189" indent="-457189" defTabSz="1219170">
              <a:spcAft>
                <a:spcPts val="800"/>
              </a:spcAft>
              <a:buSzPct val="100000"/>
              <a:buFontTx/>
              <a:buChar char="•"/>
            </a:pPr>
            <a:r>
              <a:rPr lang="en-US" sz="2133" b="1" dirty="0">
                <a:solidFill>
                  <a:srgbClr val="26222B"/>
                </a:solidFill>
                <a:latin typeface="Calibri" pitchFamily="34" charset="0"/>
                <a:ea typeface="Calibri" pitchFamily="34" charset="-122"/>
                <a:cs typeface="Calibri" pitchFamily="34" charset="-120"/>
              </a:rPr>
              <a:t>On the Y side</a:t>
            </a:r>
            <a:r>
              <a:rPr lang="en-US" sz="2133" dirty="0">
                <a:solidFill>
                  <a:srgbClr val="26222B"/>
                </a:solidFill>
                <a:latin typeface="Calibri" pitchFamily="34" charset="0"/>
                <a:ea typeface="Calibri" pitchFamily="34" charset="-122"/>
                <a:cs typeface="Calibri" pitchFamily="34" charset="-120"/>
              </a:rPr>
              <a:t>: a car reaches discount retail and allows bulk buying, which lowers the price paid per drink and the share of income spent.</a:t>
            </a:r>
            <a:endParaRPr lang="en-US" sz="2133" dirty="0">
              <a:solidFill>
                <a:prstClr val="black"/>
              </a:solidFill>
              <a:latin typeface="Calibri" panose="020F0502020204030204"/>
            </a:endParaRPr>
          </a:p>
          <a:p>
            <a:pPr marL="457189" indent="-457189" defTabSz="1219170">
              <a:spcAft>
                <a:spcPts val="800"/>
              </a:spcAft>
              <a:buSzPct val="100000"/>
              <a:buFontTx/>
              <a:buChar char="•"/>
            </a:pPr>
            <a:r>
              <a:rPr lang="en-US" sz="2133" dirty="0">
                <a:solidFill>
                  <a:srgbClr val="26222B"/>
                </a:solidFill>
                <a:latin typeface="Calibri" pitchFamily="34" charset="0"/>
                <a:ea typeface="Calibri" pitchFamily="34" charset="-122"/>
                <a:cs typeface="Calibri" pitchFamily="34" charset="-120"/>
              </a:rPr>
              <a:t>So the pattern I predicted could appear even if being near a store changes nothing.</a:t>
            </a:r>
            <a:endParaRPr lang="en-US" sz="2133" dirty="0">
              <a:solidFill>
                <a:prstClr val="black"/>
              </a:solidFill>
              <a:latin typeface="Calibri" panose="020F0502020204030204"/>
            </a:endParaRPr>
          </a:p>
        </p:txBody>
      </p:sp>
      <p:sp>
        <p:nvSpPr>
          <p:cNvPr id="5" name="Shape 2"/>
          <p:cNvSpPr/>
          <p:nvPr/>
        </p:nvSpPr>
        <p:spPr>
          <a:xfrm>
            <a:off x="7381240" y="5778499"/>
            <a:ext cx="4693920" cy="952500"/>
          </a:xfrm>
          <a:prstGeom prst="rect">
            <a:avLst/>
          </a:prstGeom>
          <a:solidFill>
            <a:srgbClr val="1F1B24"/>
          </a:solidFill>
          <a:ln w="12700">
            <a:solidFill>
              <a:srgbClr val="1F1B24"/>
            </a:solidFill>
            <a:prstDash val="solid"/>
          </a:ln>
        </p:spPr>
        <p:txBody>
          <a:bodyPr/>
          <a:lstStyle/>
          <a:p>
            <a:pPr defTabSz="1219170"/>
            <a:endParaRPr lang="en-US" sz="2400">
              <a:solidFill>
                <a:prstClr val="black"/>
              </a:solidFill>
              <a:latin typeface="Calibri" panose="020F0502020204030204"/>
            </a:endParaRPr>
          </a:p>
        </p:txBody>
      </p:sp>
      <p:sp>
        <p:nvSpPr>
          <p:cNvPr id="6" name="Text 3"/>
          <p:cNvSpPr txBox="1"/>
          <p:nvPr/>
        </p:nvSpPr>
        <p:spPr>
          <a:xfrm>
            <a:off x="7868920" y="5638800"/>
            <a:ext cx="4206240" cy="1158240"/>
          </a:xfrm>
          <a:prstGeom prst="rect">
            <a:avLst/>
          </a:prstGeom>
          <a:noFill/>
          <a:ln/>
        </p:spPr>
        <p:txBody>
          <a:bodyPr wrap="square" lIns="0" tIns="0" rIns="0" bIns="0" rtlCol="0" anchor="ctr"/>
          <a:lstStyle/>
          <a:p>
            <a:pPr defTabSz="1219170"/>
            <a:r>
              <a:rPr lang="en-US" sz="1600" i="1" dirty="0">
                <a:solidFill>
                  <a:srgbClr val="FFFFFF"/>
                </a:solidFill>
                <a:latin typeface="Calibri" pitchFamily="34" charset="0"/>
                <a:ea typeface="Calibri" pitchFamily="34" charset="-122"/>
                <a:cs typeface="Calibri" pitchFamily="34" charset="-120"/>
              </a:rPr>
              <a:t>This confounder imitates my theory rather than muddling it (hence needs to be controlled in the model as a confounder too)</a:t>
            </a:r>
            <a:endParaRPr lang="en-US" sz="1600" dirty="0">
              <a:solidFill>
                <a:prstClr val="black"/>
              </a:solidFill>
              <a:latin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238811"/>
            <a:ext cx="11094720" cy="557564"/>
          </a:xfrm>
          <a:prstGeom prst="rect">
            <a:avLst/>
          </a:prstGeom>
          <a:noFill/>
          <a:ln/>
        </p:spPr>
        <p:txBody>
          <a:bodyPr wrap="square" lIns="0" tIns="0" rIns="0" bIns="0" rtlCol="0" anchor="ctr"/>
          <a:lstStyle/>
          <a:p>
            <a:pPr defTabSz="1219170"/>
            <a:r>
              <a:rPr lang="en-US" sz="3600" b="1" dirty="0">
                <a:solidFill>
                  <a:srgbClr val="26222B"/>
                </a:solidFill>
                <a:latin typeface="Cambria" pitchFamily="34" charset="0"/>
                <a:ea typeface="Cambria" pitchFamily="34" charset="-122"/>
                <a:cs typeface="Cambria" pitchFamily="34" charset="-120"/>
              </a:rPr>
              <a:t>Role 2: mediation</a:t>
            </a:r>
            <a:endParaRPr lang="en-US" sz="3600" dirty="0">
              <a:solidFill>
                <a:prstClr val="black"/>
              </a:solidFill>
              <a:latin typeface="Calibri" panose="020F0502020204030204"/>
            </a:endParaRPr>
          </a:p>
        </p:txBody>
      </p:sp>
      <p:pic>
        <p:nvPicPr>
          <p:cNvPr id="3" name="Image 0" descr="/tmp/claude-0/-home-claude/ebe111b5-50b2-551c-816b-73fdc7adf86c/scratchpad/A2/Figure3_mediation.png"/>
          <p:cNvPicPr>
            <a:picLocks noChangeAspect="1"/>
          </p:cNvPicPr>
          <p:nvPr/>
        </p:nvPicPr>
        <p:blipFill>
          <a:blip r:embed="rId3"/>
          <a:stretch>
            <a:fillRect/>
          </a:stretch>
        </p:blipFill>
        <p:spPr>
          <a:xfrm>
            <a:off x="548640" y="796374"/>
            <a:ext cx="11329133" cy="4250239"/>
          </a:xfrm>
          <a:prstGeom prst="rect">
            <a:avLst/>
          </a:prstGeom>
        </p:spPr>
      </p:pic>
      <p:sp>
        <p:nvSpPr>
          <p:cNvPr id="4" name="Shape 1"/>
          <p:cNvSpPr/>
          <p:nvPr/>
        </p:nvSpPr>
        <p:spPr>
          <a:xfrm>
            <a:off x="455676" y="5232784"/>
            <a:ext cx="5486400" cy="1158240"/>
          </a:xfrm>
          <a:prstGeom prst="rect">
            <a:avLst/>
          </a:prstGeom>
          <a:solidFill>
            <a:srgbClr val="F3F2F6"/>
          </a:solidFill>
          <a:ln w="12700">
            <a:solidFill>
              <a:srgbClr val="F3F2F6"/>
            </a:solidFill>
            <a:prstDash val="solid"/>
          </a:ln>
        </p:spPr>
        <p:txBody>
          <a:bodyPr/>
          <a:lstStyle/>
          <a:p>
            <a:pPr defTabSz="1219170"/>
            <a:endParaRPr lang="en-US" sz="2400">
              <a:solidFill>
                <a:prstClr val="black"/>
              </a:solidFill>
              <a:latin typeface="Calibri" panose="020F0502020204030204"/>
            </a:endParaRPr>
          </a:p>
        </p:txBody>
      </p:sp>
      <p:sp>
        <p:nvSpPr>
          <p:cNvPr id="5" name="Text 2"/>
          <p:cNvSpPr txBox="1"/>
          <p:nvPr/>
        </p:nvSpPr>
        <p:spPr>
          <a:xfrm>
            <a:off x="699516" y="5280677"/>
            <a:ext cx="4998720" cy="1036320"/>
          </a:xfrm>
          <a:prstGeom prst="rect">
            <a:avLst/>
          </a:prstGeom>
          <a:noFill/>
          <a:ln/>
        </p:spPr>
        <p:txBody>
          <a:bodyPr wrap="square" lIns="0" tIns="0" rIns="0" bIns="0" rtlCol="0" anchor="ctr"/>
          <a:lstStyle/>
          <a:p>
            <a:pPr defTabSz="1219170"/>
            <a:r>
              <a:rPr lang="en-US" sz="1533" b="1" dirty="0">
                <a:solidFill>
                  <a:srgbClr val="26222B"/>
                </a:solidFill>
                <a:latin typeface="Calibri" pitchFamily="34" charset="0"/>
                <a:ea typeface="Calibri" pitchFamily="34" charset="-122"/>
                <a:cs typeface="Calibri" pitchFamily="34" charset="-120"/>
              </a:rPr>
              <a:t>Why it doesn’t make sense.  </a:t>
            </a:r>
            <a:r>
              <a:rPr lang="en-US" sz="1533" dirty="0">
                <a:solidFill>
                  <a:srgbClr val="26222B"/>
                </a:solidFill>
                <a:latin typeface="Calibri" pitchFamily="34" charset="0"/>
                <a:ea typeface="Calibri" pitchFamily="34" charset="-122"/>
                <a:cs typeface="Calibri" pitchFamily="34" charset="-120"/>
              </a:rPr>
              <a:t>Mediation needs X to cause Z. </a:t>
            </a:r>
            <a:r>
              <a:rPr lang="en-US" sz="1600" dirty="0">
                <a:solidFill>
                  <a:prstClr val="black"/>
                </a:solidFill>
                <a:latin typeface="Calibri" panose="020F0502020204030204"/>
              </a:rPr>
              <a:t>Nobody has ever stood in their driveway and thought, ‘the liquor store is two miles away -- time to buy a Honda.'</a:t>
            </a:r>
            <a:endParaRPr lang="en-US" sz="1533" dirty="0">
              <a:solidFill>
                <a:prstClr val="black"/>
              </a:solidFill>
              <a:latin typeface="Calibri" panose="020F0502020204030204"/>
            </a:endParaRPr>
          </a:p>
        </p:txBody>
      </p:sp>
      <p:sp>
        <p:nvSpPr>
          <p:cNvPr id="6" name="Shape 3"/>
          <p:cNvSpPr/>
          <p:nvPr/>
        </p:nvSpPr>
        <p:spPr>
          <a:xfrm>
            <a:off x="6156960" y="5120640"/>
            <a:ext cx="5486400" cy="1158240"/>
          </a:xfrm>
          <a:prstGeom prst="rect">
            <a:avLst/>
          </a:prstGeom>
          <a:solidFill>
            <a:srgbClr val="1F1B24"/>
          </a:solidFill>
          <a:ln w="12700">
            <a:solidFill>
              <a:srgbClr val="1F1B24"/>
            </a:solidFill>
            <a:prstDash val="solid"/>
          </a:ln>
        </p:spPr>
        <p:txBody>
          <a:bodyPr/>
          <a:lstStyle/>
          <a:p>
            <a:pPr defTabSz="1219170"/>
            <a:endParaRPr lang="en-US" sz="2400">
              <a:solidFill>
                <a:prstClr val="black"/>
              </a:solidFill>
              <a:latin typeface="Calibri" panose="020F0502020204030204"/>
            </a:endParaRPr>
          </a:p>
        </p:txBody>
      </p:sp>
      <p:sp>
        <p:nvSpPr>
          <p:cNvPr id="7" name="Text 4"/>
          <p:cNvSpPr txBox="1"/>
          <p:nvPr/>
        </p:nvSpPr>
        <p:spPr>
          <a:xfrm>
            <a:off x="6437376" y="5181600"/>
            <a:ext cx="4998720" cy="1036320"/>
          </a:xfrm>
          <a:prstGeom prst="rect">
            <a:avLst/>
          </a:prstGeom>
          <a:noFill/>
          <a:ln/>
        </p:spPr>
        <p:txBody>
          <a:bodyPr wrap="square" lIns="0" tIns="0" rIns="0" bIns="0" rtlCol="0" anchor="ctr"/>
          <a:lstStyle/>
          <a:p>
            <a:pPr defTabSz="1219170"/>
            <a:r>
              <a:rPr lang="en-US" sz="1533" b="1" dirty="0">
                <a:solidFill>
                  <a:srgbClr val="D98E04"/>
                </a:solidFill>
                <a:latin typeface="Calibri" pitchFamily="34" charset="0"/>
                <a:ea typeface="Calibri" pitchFamily="34" charset="-122"/>
                <a:cs typeface="Calibri" pitchFamily="34" charset="-120"/>
              </a:rPr>
              <a:t>What works instead.  </a:t>
            </a:r>
            <a:r>
              <a:rPr lang="en-US" sz="1533" dirty="0">
                <a:solidFill>
                  <a:srgbClr val="FFFFFF"/>
                </a:solidFill>
                <a:latin typeface="Calibri" pitchFamily="34" charset="0"/>
                <a:ea typeface="Calibri" pitchFamily="34" charset="-122"/>
                <a:cs typeface="Calibri" pitchFamily="34" charset="-120"/>
              </a:rPr>
              <a:t>Put vehicle access first, and my own independent concept  becomes the mediator.</a:t>
            </a:r>
            <a:endParaRPr lang="en-US" sz="1533" dirty="0">
              <a:solidFill>
                <a:prstClr val="black"/>
              </a:solidFill>
              <a:latin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16992"/>
            <a:ext cx="11094720" cy="755904"/>
          </a:xfrm>
          <a:prstGeom prst="rect">
            <a:avLst/>
          </a:prstGeom>
          <a:noFill/>
          <a:ln/>
        </p:spPr>
        <p:txBody>
          <a:bodyPr wrap="square" lIns="0" tIns="0" rIns="0" bIns="0" rtlCol="0" anchor="ctr"/>
          <a:lstStyle/>
          <a:p>
            <a:pPr defTabSz="1219170"/>
            <a:r>
              <a:rPr lang="en-US" sz="3200" b="1" dirty="0">
                <a:solidFill>
                  <a:srgbClr val="26222B"/>
                </a:solidFill>
                <a:latin typeface="Cambria" pitchFamily="34" charset="0"/>
                <a:ea typeface="Cambria" pitchFamily="34" charset="-122"/>
                <a:cs typeface="Cambria" pitchFamily="34" charset="-120"/>
              </a:rPr>
              <a:t>Role 3: moderation  (the role I choose among the three)</a:t>
            </a:r>
            <a:endParaRPr lang="en-US" sz="3200" dirty="0">
              <a:solidFill>
                <a:prstClr val="black"/>
              </a:solidFill>
              <a:latin typeface="Calibri" panose="020F0502020204030204"/>
            </a:endParaRPr>
          </a:p>
        </p:txBody>
      </p:sp>
      <p:pic>
        <p:nvPicPr>
          <p:cNvPr id="3" name="Image 0" descr="/tmp/claude-0/-home-claude/ebe111b5-50b2-551c-816b-73fdc7adf86c/scratchpad/A2/Figure4_moderation.png"/>
          <p:cNvPicPr>
            <a:picLocks noChangeAspect="1"/>
          </p:cNvPicPr>
          <p:nvPr/>
        </p:nvPicPr>
        <p:blipFill>
          <a:blip r:embed="rId3"/>
          <a:stretch>
            <a:fillRect/>
          </a:stretch>
        </p:blipFill>
        <p:spPr>
          <a:xfrm>
            <a:off x="-42813" y="1072896"/>
            <a:ext cx="7387384" cy="3350179"/>
          </a:xfrm>
          <a:prstGeom prst="rect">
            <a:avLst/>
          </a:prstGeom>
        </p:spPr>
      </p:pic>
      <p:sp>
        <p:nvSpPr>
          <p:cNvPr id="4" name="Text 1"/>
          <p:cNvSpPr txBox="1"/>
          <p:nvPr/>
        </p:nvSpPr>
        <p:spPr>
          <a:xfrm>
            <a:off x="7116615" y="1402080"/>
            <a:ext cx="4815840" cy="2804160"/>
          </a:xfrm>
          <a:prstGeom prst="rect">
            <a:avLst/>
          </a:prstGeom>
          <a:noFill/>
          <a:ln/>
        </p:spPr>
        <p:txBody>
          <a:bodyPr wrap="square" rtlCol="0" anchor="t"/>
          <a:lstStyle/>
          <a:p>
            <a:pPr marL="457189" indent="-457189" defTabSz="1219170">
              <a:spcAft>
                <a:spcPts val="800"/>
              </a:spcAft>
              <a:buSzPct val="100000"/>
              <a:buFontTx/>
              <a:buChar char="•"/>
            </a:pPr>
            <a:r>
              <a:rPr lang="en-US" sz="1867" dirty="0">
                <a:solidFill>
                  <a:srgbClr val="26222B"/>
                </a:solidFill>
                <a:latin typeface="Calibri" pitchFamily="34" charset="0"/>
                <a:ea typeface="Calibri" pitchFamily="34" charset="-122"/>
                <a:cs typeface="Calibri" pitchFamily="34" charset="-120"/>
              </a:rPr>
              <a:t>Distance acts on purchasing through travel cost, and travel cost depends on how the trip is made.</a:t>
            </a:r>
            <a:endParaRPr lang="en-US" sz="1867" dirty="0">
              <a:solidFill>
                <a:prstClr val="black"/>
              </a:solidFill>
              <a:latin typeface="Calibri" panose="020F0502020204030204"/>
            </a:endParaRPr>
          </a:p>
          <a:p>
            <a:pPr marL="457189" indent="-457189" defTabSz="1219170">
              <a:spcAft>
                <a:spcPts val="800"/>
              </a:spcAft>
              <a:buSzPct val="100000"/>
              <a:buFontTx/>
              <a:buChar char="•"/>
            </a:pPr>
            <a:r>
              <a:rPr lang="en-US" sz="1867" dirty="0">
                <a:solidFill>
                  <a:srgbClr val="26222B"/>
                </a:solidFill>
                <a:latin typeface="Calibri" pitchFamily="34" charset="0"/>
                <a:ea typeface="Calibri" pitchFamily="34" charset="-122"/>
                <a:cs typeface="Calibri" pitchFamily="34" charset="-120"/>
              </a:rPr>
              <a:t>With a car, half a mile costs a few minutes and folds into an existing trip. The slope will be small.</a:t>
            </a:r>
            <a:endParaRPr lang="en-US" sz="1867" dirty="0">
              <a:solidFill>
                <a:prstClr val="black"/>
              </a:solidFill>
              <a:latin typeface="Calibri" panose="020F0502020204030204"/>
            </a:endParaRPr>
          </a:p>
          <a:p>
            <a:pPr marL="457189" indent="-457189" defTabSz="1219170">
              <a:spcAft>
                <a:spcPts val="800"/>
              </a:spcAft>
              <a:buSzPct val="100000"/>
              <a:buFontTx/>
              <a:buChar char="•"/>
            </a:pPr>
            <a:r>
              <a:rPr lang="en-US" sz="1867" dirty="0">
                <a:solidFill>
                  <a:srgbClr val="26222B"/>
                </a:solidFill>
                <a:latin typeface="Calibri" pitchFamily="34" charset="0"/>
                <a:ea typeface="Calibri" pitchFamily="34" charset="-122"/>
                <a:cs typeface="Calibri" pitchFamily="34" charset="-120"/>
              </a:rPr>
              <a:t>Without a car, the same half mile is walked, often carrying the purchase home. The slope should be steep.</a:t>
            </a:r>
            <a:endParaRPr lang="en-US" sz="1867" dirty="0">
              <a:solidFill>
                <a:prstClr val="black"/>
              </a:solidFill>
              <a:latin typeface="Calibri" panose="020F0502020204030204"/>
            </a:endParaRPr>
          </a:p>
        </p:txBody>
      </p:sp>
      <p:sp>
        <p:nvSpPr>
          <p:cNvPr id="5" name="Shape 2"/>
          <p:cNvSpPr/>
          <p:nvPr/>
        </p:nvSpPr>
        <p:spPr>
          <a:xfrm>
            <a:off x="548640" y="4544995"/>
            <a:ext cx="11517669" cy="1672925"/>
          </a:xfrm>
          <a:prstGeom prst="roundRect">
            <a:avLst>
              <a:gd name="adj" fmla="val 6250"/>
            </a:avLst>
          </a:prstGeom>
          <a:solidFill>
            <a:srgbClr val="FBF2E0"/>
          </a:solidFill>
          <a:ln w="25400">
            <a:solidFill>
              <a:srgbClr val="D98E04"/>
            </a:solidFill>
            <a:prstDash val="solid"/>
          </a:ln>
        </p:spPr>
        <p:txBody>
          <a:bodyPr/>
          <a:lstStyle/>
          <a:p>
            <a:pPr defTabSz="1219170"/>
            <a:endParaRPr lang="en-US" sz="2400">
              <a:solidFill>
                <a:prstClr val="black"/>
              </a:solidFill>
              <a:latin typeface="Calibri" panose="020F0502020204030204"/>
            </a:endParaRPr>
          </a:p>
        </p:txBody>
      </p:sp>
      <p:sp>
        <p:nvSpPr>
          <p:cNvPr id="6" name="Text 3"/>
          <p:cNvSpPr txBox="1"/>
          <p:nvPr/>
        </p:nvSpPr>
        <p:spPr>
          <a:xfrm>
            <a:off x="853440" y="4700869"/>
            <a:ext cx="10485120" cy="365760"/>
          </a:xfrm>
          <a:prstGeom prst="rect">
            <a:avLst/>
          </a:prstGeom>
          <a:noFill/>
          <a:ln/>
        </p:spPr>
        <p:txBody>
          <a:bodyPr wrap="square" lIns="0" tIns="0" rIns="0" bIns="0" rtlCol="0" anchor="ctr"/>
          <a:lstStyle/>
          <a:p>
            <a:pPr defTabSz="1219170"/>
            <a:r>
              <a:rPr lang="en-US" sz="1733" b="1" dirty="0">
                <a:solidFill>
                  <a:srgbClr val="8A5A02"/>
                </a:solidFill>
                <a:latin typeface="Calibri" pitchFamily="34" charset="0"/>
                <a:ea typeface="Calibri" pitchFamily="34" charset="-122"/>
                <a:cs typeface="Calibri" pitchFamily="34" charset="-120"/>
              </a:rPr>
              <a:t>Why moderation over the other two</a:t>
            </a:r>
            <a:endParaRPr lang="en-US" sz="1733" dirty="0">
              <a:solidFill>
                <a:prstClr val="black"/>
              </a:solidFill>
              <a:latin typeface="Calibri" panose="020F0502020204030204"/>
            </a:endParaRPr>
          </a:p>
        </p:txBody>
      </p:sp>
      <p:sp>
        <p:nvSpPr>
          <p:cNvPr id="7" name="Text 4"/>
          <p:cNvSpPr txBox="1"/>
          <p:nvPr/>
        </p:nvSpPr>
        <p:spPr>
          <a:xfrm>
            <a:off x="877824" y="5093635"/>
            <a:ext cx="10485120" cy="1002365"/>
          </a:xfrm>
          <a:prstGeom prst="rect">
            <a:avLst/>
          </a:prstGeom>
          <a:noFill/>
          <a:ln/>
        </p:spPr>
        <p:txBody>
          <a:bodyPr wrap="square" lIns="0" tIns="0" rIns="0" bIns="0" rtlCol="0" anchor="t"/>
          <a:lstStyle/>
          <a:p>
            <a:pPr defTabSz="1219170"/>
            <a:r>
              <a:rPr lang="en-US" sz="1867" dirty="0">
                <a:solidFill>
                  <a:srgbClr val="26222B"/>
                </a:solidFill>
                <a:latin typeface="Calibri" pitchFamily="34" charset="0"/>
                <a:ea typeface="Calibri" pitchFamily="34" charset="-122"/>
                <a:cs typeface="Calibri" pitchFamily="34" charset="-120"/>
              </a:rPr>
              <a:t>Mediation is ruled out by time order. The spurious role is real, it can be handled by controlling for vehicle access, not by abandoning the causal claim. Moderation is the only one of the three that states something my theory actually predicts rather than something it (my theory) merely has to survive.</a:t>
            </a:r>
            <a:endParaRPr lang="en-US" sz="1867" dirty="0">
              <a:solidFill>
                <a:prstClr val="black"/>
              </a:solidFill>
              <a:latin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16992"/>
            <a:ext cx="11094720" cy="755904"/>
          </a:xfrm>
          <a:prstGeom prst="rect">
            <a:avLst/>
          </a:prstGeom>
          <a:noFill/>
          <a:ln/>
        </p:spPr>
        <p:txBody>
          <a:bodyPr wrap="square" lIns="0" tIns="0" rIns="0" bIns="0" rtlCol="0" anchor="ctr"/>
          <a:lstStyle/>
          <a:p>
            <a:pPr defTabSz="1219170"/>
            <a:r>
              <a:rPr lang="en-US" sz="3600" b="1" dirty="0">
                <a:solidFill>
                  <a:srgbClr val="26222B"/>
                </a:solidFill>
                <a:latin typeface="Cambria" pitchFamily="34" charset="0"/>
                <a:ea typeface="Cambria" pitchFamily="34" charset="-122"/>
                <a:cs typeface="Cambria" pitchFamily="34" charset="-120"/>
              </a:rPr>
              <a:t>Three-variable hypothesis</a:t>
            </a:r>
            <a:endParaRPr lang="en-US" sz="3600" dirty="0">
              <a:solidFill>
                <a:prstClr val="black"/>
              </a:solidFill>
              <a:latin typeface="Calibri" panose="020F0502020204030204"/>
            </a:endParaRPr>
          </a:p>
        </p:txBody>
      </p:sp>
      <p:sp>
        <p:nvSpPr>
          <p:cNvPr id="3" name="Shape 1"/>
          <p:cNvSpPr/>
          <p:nvPr/>
        </p:nvSpPr>
        <p:spPr>
          <a:xfrm>
            <a:off x="548640" y="1280160"/>
            <a:ext cx="11094720" cy="1645920"/>
          </a:xfrm>
          <a:prstGeom prst="rect">
            <a:avLst/>
          </a:prstGeom>
          <a:solidFill>
            <a:srgbClr val="1F1B24"/>
          </a:solidFill>
          <a:ln w="12700">
            <a:solidFill>
              <a:srgbClr val="1F1B24"/>
            </a:solidFill>
            <a:prstDash val="solid"/>
          </a:ln>
        </p:spPr>
        <p:txBody>
          <a:bodyPr/>
          <a:lstStyle/>
          <a:p>
            <a:pPr defTabSz="1219170"/>
            <a:endParaRPr lang="en-US" sz="2400">
              <a:solidFill>
                <a:prstClr val="black"/>
              </a:solidFill>
              <a:latin typeface="Calibri" panose="020F0502020204030204"/>
            </a:endParaRPr>
          </a:p>
        </p:txBody>
      </p:sp>
      <p:sp>
        <p:nvSpPr>
          <p:cNvPr id="4" name="Text 2"/>
          <p:cNvSpPr txBox="1"/>
          <p:nvPr/>
        </p:nvSpPr>
        <p:spPr>
          <a:xfrm>
            <a:off x="853440" y="1341120"/>
            <a:ext cx="10485120" cy="1524000"/>
          </a:xfrm>
          <a:prstGeom prst="rect">
            <a:avLst/>
          </a:prstGeom>
          <a:noFill/>
          <a:ln/>
        </p:spPr>
        <p:txBody>
          <a:bodyPr wrap="square" lIns="0" tIns="0" rIns="0" bIns="0" rtlCol="0" anchor="ctr"/>
          <a:lstStyle/>
          <a:p>
            <a:pPr defTabSz="1219170"/>
            <a:r>
              <a:rPr lang="en-US" sz="1667" dirty="0">
                <a:solidFill>
                  <a:srgbClr val="FFFFFF"/>
                </a:solidFill>
                <a:latin typeface="Calibri" pitchFamily="34" charset="0"/>
                <a:ea typeface="Calibri" pitchFamily="34" charset="-122"/>
                <a:cs typeface="Calibri" pitchFamily="34" charset="-120"/>
              </a:rPr>
              <a:t>Among low-income households, vehicle access moderates the relationship between distance to the nearest off-premise outlet and the share of monthly income spent on alcohol, such that </a:t>
            </a:r>
            <a:r>
              <a:rPr lang="en-US" sz="1667" b="1" dirty="0">
                <a:solidFill>
                  <a:srgbClr val="D98E04"/>
                </a:solidFill>
                <a:latin typeface="Calibri" pitchFamily="34" charset="0"/>
                <a:ea typeface="Calibri" pitchFamily="34" charset="-122"/>
                <a:cs typeface="Calibri" pitchFamily="34" charset="-120"/>
              </a:rPr>
              <a:t>among households without a vehicle</a:t>
            </a:r>
            <a:r>
              <a:rPr lang="en-US" sz="1667" dirty="0">
                <a:solidFill>
                  <a:srgbClr val="FFFFFF"/>
                </a:solidFill>
                <a:latin typeface="Calibri" pitchFamily="34" charset="0"/>
                <a:ea typeface="Calibri" pitchFamily="34" charset="-122"/>
                <a:cs typeface="Calibri" pitchFamily="34" charset="-120"/>
              </a:rPr>
              <a:t>, those living within half a mile will spend a substantially higher share than those living farther away; whereas </a:t>
            </a:r>
            <a:r>
              <a:rPr lang="en-US" sz="1667" b="1" dirty="0">
                <a:solidFill>
                  <a:srgbClr val="D98E04"/>
                </a:solidFill>
                <a:latin typeface="Calibri" pitchFamily="34" charset="0"/>
                <a:ea typeface="Calibri" pitchFamily="34" charset="-122"/>
                <a:cs typeface="Calibri" pitchFamily="34" charset="-120"/>
              </a:rPr>
              <a:t>among households with a vehicle</a:t>
            </a:r>
            <a:r>
              <a:rPr lang="en-US" sz="1667" dirty="0">
                <a:solidFill>
                  <a:srgbClr val="FFFFFF"/>
                </a:solidFill>
                <a:latin typeface="Calibri" pitchFamily="34" charset="0"/>
                <a:ea typeface="Calibri" pitchFamily="34" charset="-122"/>
                <a:cs typeface="Calibri" pitchFamily="34" charset="-120"/>
              </a:rPr>
              <a:t>, those living within half a mile will spend only slightly more than those living farther away.</a:t>
            </a:r>
            <a:endParaRPr lang="en-US" sz="1667" dirty="0">
              <a:solidFill>
                <a:prstClr val="black"/>
              </a:solidFill>
              <a:latin typeface="Calibri" panose="020F0502020204030204"/>
            </a:endParaRPr>
          </a:p>
        </p:txBody>
      </p:sp>
      <p:pic>
        <p:nvPicPr>
          <p:cNvPr id="5" name="Image 0" descr="/tmp/claude-0/-home-claude/ebe111b5-50b2-551c-816b-73fdc7adf86c/scratchpad/A2/Figure5_moderation_barchart.png"/>
          <p:cNvPicPr>
            <a:picLocks noChangeAspect="1"/>
          </p:cNvPicPr>
          <p:nvPr/>
        </p:nvPicPr>
        <p:blipFill>
          <a:blip r:embed="rId3"/>
          <a:stretch>
            <a:fillRect/>
          </a:stretch>
        </p:blipFill>
        <p:spPr>
          <a:xfrm>
            <a:off x="793981" y="3072383"/>
            <a:ext cx="6216419" cy="3564087"/>
          </a:xfrm>
          <a:prstGeom prst="rect">
            <a:avLst/>
          </a:prstGeom>
        </p:spPr>
      </p:pic>
      <p:sp>
        <p:nvSpPr>
          <p:cNvPr id="6" name="Text 3"/>
          <p:cNvSpPr txBox="1"/>
          <p:nvPr/>
        </p:nvSpPr>
        <p:spPr>
          <a:xfrm>
            <a:off x="7010400" y="3230880"/>
            <a:ext cx="4632960" cy="2926080"/>
          </a:xfrm>
          <a:prstGeom prst="rect">
            <a:avLst/>
          </a:prstGeom>
          <a:solidFill>
            <a:schemeClr val="accent4">
              <a:lumMod val="20000"/>
              <a:lumOff val="80000"/>
            </a:schemeClr>
          </a:solidFill>
          <a:ln/>
        </p:spPr>
        <p:txBody>
          <a:bodyPr wrap="square" rtlCol="0" anchor="t"/>
          <a:lstStyle/>
          <a:p>
            <a:pPr marL="457189" indent="-457189" defTabSz="1219170">
              <a:spcAft>
                <a:spcPts val="800"/>
              </a:spcAft>
              <a:buSzPct val="100000"/>
              <a:buFontTx/>
              <a:buChar char="•"/>
            </a:pPr>
            <a:r>
              <a:rPr lang="en-US" sz="2133" dirty="0">
                <a:solidFill>
                  <a:srgbClr val="26222B"/>
                </a:solidFill>
                <a:latin typeface="Calibri" pitchFamily="34" charset="0"/>
                <a:ea typeface="Calibri" pitchFamily="34" charset="-122"/>
                <a:cs typeface="Calibri" pitchFamily="34" charset="-120"/>
              </a:rPr>
              <a:t>Non-parallel slopes are the interaction. Parallel bars would mean no moderation.</a:t>
            </a:r>
            <a:endParaRPr lang="en-US" sz="2133" dirty="0">
              <a:solidFill>
                <a:prstClr val="black"/>
              </a:solidFill>
              <a:latin typeface="Calibri" panose="020F0502020204030204"/>
            </a:endParaRPr>
          </a:p>
          <a:p>
            <a:pPr marL="457189" indent="-457189" defTabSz="1219170">
              <a:spcAft>
                <a:spcPts val="800"/>
              </a:spcAft>
              <a:buSzPct val="100000"/>
              <a:buFontTx/>
              <a:buChar char="•"/>
            </a:pPr>
            <a:r>
              <a:rPr lang="en-US" sz="2133" dirty="0">
                <a:solidFill>
                  <a:srgbClr val="26222B"/>
                </a:solidFill>
                <a:latin typeface="Calibri" pitchFamily="34" charset="0"/>
                <a:ea typeface="Calibri" pitchFamily="34" charset="-122"/>
                <a:cs typeface="Calibri" pitchFamily="34" charset="-120"/>
              </a:rPr>
              <a:t>Households without cars show a steep drop from near to far.</a:t>
            </a:r>
            <a:endParaRPr lang="en-US" sz="2133" dirty="0">
              <a:solidFill>
                <a:prstClr val="black"/>
              </a:solidFill>
              <a:latin typeface="Calibri" panose="020F0502020204030204"/>
            </a:endParaRPr>
          </a:p>
          <a:p>
            <a:pPr marL="457189" indent="-457189" defTabSz="1219170">
              <a:spcAft>
                <a:spcPts val="800"/>
              </a:spcAft>
              <a:buSzPct val="100000"/>
              <a:buFontTx/>
              <a:buChar char="•"/>
            </a:pPr>
            <a:r>
              <a:rPr lang="en-US" sz="2133" dirty="0">
                <a:solidFill>
                  <a:srgbClr val="26222B"/>
                </a:solidFill>
                <a:latin typeface="Calibri" pitchFamily="34" charset="0"/>
                <a:ea typeface="Calibri" pitchFamily="34" charset="-122"/>
                <a:cs typeface="Calibri" pitchFamily="34" charset="-120"/>
              </a:rPr>
              <a:t>Households with a vehicle have low slope.</a:t>
            </a:r>
            <a:endParaRPr lang="en-US" sz="2133" dirty="0">
              <a:solidFill>
                <a:prstClr val="black"/>
              </a:solidFill>
              <a:latin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16992"/>
            <a:ext cx="11094720" cy="755904"/>
          </a:xfrm>
          <a:prstGeom prst="rect">
            <a:avLst/>
          </a:prstGeom>
          <a:noFill/>
          <a:ln/>
        </p:spPr>
        <p:txBody>
          <a:bodyPr wrap="square" lIns="0" tIns="0" rIns="0" bIns="0" rtlCol="0" anchor="ctr"/>
          <a:lstStyle/>
          <a:p>
            <a:pPr defTabSz="1219170"/>
            <a:r>
              <a:rPr lang="en-US" sz="3600" b="1" dirty="0">
                <a:solidFill>
                  <a:srgbClr val="26222B"/>
                </a:solidFill>
                <a:latin typeface="Cambria" pitchFamily="34" charset="0"/>
                <a:ea typeface="Cambria" pitchFamily="34" charset="-122"/>
                <a:cs typeface="Cambria" pitchFamily="34" charset="-120"/>
              </a:rPr>
              <a:t>The fourth variable, and the full model</a:t>
            </a:r>
            <a:endParaRPr lang="en-US" sz="3600" dirty="0">
              <a:solidFill>
                <a:prstClr val="black"/>
              </a:solidFill>
              <a:latin typeface="Calibri" panose="020F0502020204030204"/>
            </a:endParaRPr>
          </a:p>
        </p:txBody>
      </p:sp>
      <p:sp>
        <p:nvSpPr>
          <p:cNvPr id="3" name="Shape 1"/>
          <p:cNvSpPr/>
          <p:nvPr/>
        </p:nvSpPr>
        <p:spPr>
          <a:xfrm>
            <a:off x="548640" y="1280160"/>
            <a:ext cx="4267200" cy="1828800"/>
          </a:xfrm>
          <a:prstGeom prst="rect">
            <a:avLst/>
          </a:prstGeom>
          <a:solidFill>
            <a:srgbClr val="1F1B24"/>
          </a:solidFill>
          <a:ln w="12700">
            <a:solidFill>
              <a:srgbClr val="1F1B24"/>
            </a:solidFill>
            <a:prstDash val="solid"/>
          </a:ln>
        </p:spPr>
        <p:txBody>
          <a:bodyPr/>
          <a:lstStyle/>
          <a:p>
            <a:pPr defTabSz="1219170"/>
            <a:endParaRPr lang="en-US" sz="2400">
              <a:solidFill>
                <a:prstClr val="black"/>
              </a:solidFill>
              <a:latin typeface="Calibri" panose="020F0502020204030204"/>
            </a:endParaRPr>
          </a:p>
        </p:txBody>
      </p:sp>
      <p:sp>
        <p:nvSpPr>
          <p:cNvPr id="4" name="Text 2"/>
          <p:cNvSpPr txBox="1"/>
          <p:nvPr/>
        </p:nvSpPr>
        <p:spPr>
          <a:xfrm>
            <a:off x="853440" y="1402080"/>
            <a:ext cx="3657600" cy="316992"/>
          </a:xfrm>
          <a:prstGeom prst="rect">
            <a:avLst/>
          </a:prstGeom>
          <a:noFill/>
          <a:ln/>
        </p:spPr>
        <p:txBody>
          <a:bodyPr wrap="square" lIns="0" tIns="0" rIns="0" bIns="0" rtlCol="0" anchor="ctr"/>
          <a:lstStyle/>
          <a:p>
            <a:pPr defTabSz="1219170"/>
            <a:r>
              <a:rPr lang="en-US" sz="1400" b="1" kern="0" spc="267" dirty="0">
                <a:solidFill>
                  <a:srgbClr val="D98E04"/>
                </a:solidFill>
                <a:latin typeface="Calibri" pitchFamily="34" charset="0"/>
                <a:ea typeface="Calibri" pitchFamily="34" charset="-122"/>
                <a:cs typeface="Calibri" pitchFamily="34" charset="-120"/>
              </a:rPr>
              <a:t>FOURTH VARIABLE</a:t>
            </a:r>
            <a:endParaRPr lang="en-US" sz="1400" dirty="0">
              <a:solidFill>
                <a:prstClr val="black"/>
              </a:solidFill>
              <a:latin typeface="Calibri" panose="020F0502020204030204"/>
            </a:endParaRPr>
          </a:p>
        </p:txBody>
      </p:sp>
      <p:sp>
        <p:nvSpPr>
          <p:cNvPr id="5" name="Text 3"/>
          <p:cNvSpPr txBox="1"/>
          <p:nvPr/>
        </p:nvSpPr>
        <p:spPr>
          <a:xfrm>
            <a:off x="853440" y="1743456"/>
            <a:ext cx="3657600" cy="609600"/>
          </a:xfrm>
          <a:prstGeom prst="rect">
            <a:avLst/>
          </a:prstGeom>
          <a:noFill/>
          <a:ln/>
        </p:spPr>
        <p:txBody>
          <a:bodyPr wrap="square" lIns="0" tIns="0" rIns="0" bIns="0" rtlCol="0" anchor="t"/>
          <a:lstStyle/>
          <a:p>
            <a:pPr defTabSz="1219170"/>
            <a:r>
              <a:rPr lang="en-US" sz="2133" b="1" dirty="0">
                <a:solidFill>
                  <a:srgbClr val="FFFFFF"/>
                </a:solidFill>
                <a:latin typeface="Cambria" pitchFamily="34" charset="0"/>
                <a:ea typeface="Cambria" pitchFamily="34" charset="-122"/>
                <a:cs typeface="Cambria" pitchFamily="34" charset="-120"/>
              </a:rPr>
              <a:t>Incidental alcohol purchases</a:t>
            </a:r>
            <a:endParaRPr lang="en-US" sz="2133" dirty="0">
              <a:solidFill>
                <a:prstClr val="black"/>
              </a:solidFill>
              <a:latin typeface="Calibri" panose="020F0502020204030204"/>
            </a:endParaRPr>
          </a:p>
        </p:txBody>
      </p:sp>
      <p:sp>
        <p:nvSpPr>
          <p:cNvPr id="6" name="Text 4"/>
          <p:cNvSpPr txBox="1"/>
          <p:nvPr/>
        </p:nvSpPr>
        <p:spPr>
          <a:xfrm>
            <a:off x="853440" y="2377440"/>
            <a:ext cx="3657600" cy="670560"/>
          </a:xfrm>
          <a:prstGeom prst="rect">
            <a:avLst/>
          </a:prstGeom>
          <a:noFill/>
          <a:ln/>
        </p:spPr>
        <p:txBody>
          <a:bodyPr wrap="square" lIns="0" tIns="0" rIns="0" bIns="0" rtlCol="0" anchor="t"/>
          <a:lstStyle/>
          <a:p>
            <a:pPr defTabSz="1219170"/>
            <a:r>
              <a:rPr lang="en-US" sz="1400" dirty="0">
                <a:solidFill>
                  <a:srgbClr val="D8D4DE"/>
                </a:solidFill>
                <a:latin typeface="Calibri" pitchFamily="34" charset="0"/>
                <a:ea typeface="Calibri" pitchFamily="34" charset="-122"/>
                <a:cs typeface="Calibri" pitchFamily="34" charset="-120"/>
              </a:rPr>
              <a:t>Buying alcohol while out for some other reason: fuel, groceries, the way home.</a:t>
            </a:r>
            <a:endParaRPr lang="en-US" sz="1400" dirty="0">
              <a:solidFill>
                <a:prstClr val="black"/>
              </a:solidFill>
              <a:latin typeface="Calibri" panose="020F0502020204030204"/>
            </a:endParaRPr>
          </a:p>
        </p:txBody>
      </p:sp>
      <p:sp>
        <p:nvSpPr>
          <p:cNvPr id="7" name="Text 5"/>
          <p:cNvSpPr txBox="1"/>
          <p:nvPr/>
        </p:nvSpPr>
        <p:spPr>
          <a:xfrm>
            <a:off x="548640" y="3291841"/>
            <a:ext cx="4267200" cy="3105817"/>
          </a:xfrm>
          <a:prstGeom prst="rect">
            <a:avLst/>
          </a:prstGeom>
          <a:noFill/>
          <a:ln/>
        </p:spPr>
        <p:txBody>
          <a:bodyPr wrap="square" rtlCol="0" anchor="t"/>
          <a:lstStyle/>
          <a:p>
            <a:pPr marL="457189" indent="-457189" defTabSz="1219170">
              <a:spcAft>
                <a:spcPts val="800"/>
              </a:spcAft>
              <a:buSzPct val="100000"/>
              <a:buFontTx/>
              <a:buChar char="•"/>
            </a:pPr>
            <a:r>
              <a:rPr lang="en-US" sz="1600" dirty="0">
                <a:solidFill>
                  <a:srgbClr val="26222B"/>
                </a:solidFill>
                <a:latin typeface="Calibri" pitchFamily="34" charset="0"/>
                <a:ea typeface="Calibri" pitchFamily="34" charset="-122"/>
                <a:cs typeface="Calibri" pitchFamily="34" charset="-120"/>
              </a:rPr>
              <a:t>Without it, the theory is a black box: proximity raises spending by unstated means.</a:t>
            </a:r>
            <a:endParaRPr lang="en-US" sz="1600" dirty="0">
              <a:solidFill>
                <a:prstClr val="black"/>
              </a:solidFill>
              <a:latin typeface="Calibri" panose="020F0502020204030204"/>
            </a:endParaRPr>
          </a:p>
          <a:p>
            <a:pPr marL="457189" indent="-457189" defTabSz="1219170">
              <a:spcAft>
                <a:spcPts val="800"/>
              </a:spcAft>
              <a:buSzPct val="100000"/>
              <a:buFontTx/>
              <a:buChar char="•"/>
            </a:pPr>
            <a:r>
              <a:rPr lang="en-US" sz="1600" dirty="0">
                <a:solidFill>
                  <a:srgbClr val="26222B"/>
                </a:solidFill>
                <a:latin typeface="Calibri" pitchFamily="34" charset="0"/>
                <a:ea typeface="Calibri" pitchFamily="34" charset="-122"/>
                <a:cs typeface="Calibri" pitchFamily="34" charset="-120"/>
              </a:rPr>
              <a:t>It makes the claim falsifiable. The effect should run through incidental trips, not larger planned ones.</a:t>
            </a:r>
            <a:endParaRPr lang="en-US" sz="1600" dirty="0">
              <a:solidFill>
                <a:prstClr val="black"/>
              </a:solidFill>
              <a:latin typeface="Calibri" panose="020F0502020204030204"/>
            </a:endParaRPr>
          </a:p>
          <a:p>
            <a:pPr marL="457189" indent="-457189" defTabSz="1219170">
              <a:spcAft>
                <a:spcPts val="800"/>
              </a:spcAft>
              <a:buSzPct val="100000"/>
              <a:buFontTx/>
              <a:buChar char="•"/>
            </a:pPr>
            <a:r>
              <a:rPr lang="en-US" sz="1600" dirty="0">
                <a:solidFill>
                  <a:srgbClr val="26222B"/>
                </a:solidFill>
                <a:latin typeface="Calibri" pitchFamily="34" charset="0"/>
                <a:ea typeface="Calibri" pitchFamily="34" charset="-122"/>
                <a:cs typeface="Calibri" pitchFamily="34" charset="-120"/>
              </a:rPr>
              <a:t>It explains the curve in Part A: an incidental buy needs the outlet on an existing route.</a:t>
            </a:r>
            <a:endParaRPr lang="en-US" sz="1600" dirty="0">
              <a:solidFill>
                <a:prstClr val="black"/>
              </a:solidFill>
              <a:latin typeface="Calibri" panose="020F0502020204030204"/>
            </a:endParaRPr>
          </a:p>
          <a:p>
            <a:pPr marL="457189" indent="-457189" defTabSz="1219170">
              <a:spcAft>
                <a:spcPts val="800"/>
              </a:spcAft>
              <a:buSzPct val="100000"/>
              <a:buFontTx/>
              <a:buChar char="•"/>
            </a:pPr>
            <a:r>
              <a:rPr lang="en-US" sz="1600" dirty="0">
                <a:solidFill>
                  <a:srgbClr val="26222B"/>
                </a:solidFill>
                <a:latin typeface="Calibri" pitchFamily="34" charset="0"/>
                <a:ea typeface="Calibri" pitchFamily="34" charset="-122"/>
                <a:cs typeface="Calibri" pitchFamily="34" charset="-120"/>
              </a:rPr>
              <a:t>Defined by trip purpose, not by intent, so it is measurable with one survey item.</a:t>
            </a:r>
            <a:endParaRPr lang="en-US" sz="1600" dirty="0">
              <a:solidFill>
                <a:prstClr val="black"/>
              </a:solidFill>
              <a:latin typeface="Calibri" panose="020F0502020204030204"/>
            </a:endParaRPr>
          </a:p>
        </p:txBody>
      </p:sp>
      <p:pic>
        <p:nvPicPr>
          <p:cNvPr id="8" name="Image 0" descr="/tmp/claude-0/-home-claude/ebe111b5-50b2-551c-816b-73fdc7adf86c/scratchpad/A2/Figure6_four_variable_model.png"/>
          <p:cNvPicPr>
            <a:picLocks noChangeAspect="1"/>
          </p:cNvPicPr>
          <p:nvPr/>
        </p:nvPicPr>
        <p:blipFill>
          <a:blip r:embed="rId3"/>
          <a:stretch>
            <a:fillRect/>
          </a:stretch>
        </p:blipFill>
        <p:spPr>
          <a:xfrm>
            <a:off x="5181600" y="1072897"/>
            <a:ext cx="6583680" cy="4152985"/>
          </a:xfrm>
          <a:prstGeom prst="rect">
            <a:avLst/>
          </a:prstGeom>
        </p:spPr>
      </p:pic>
      <p:sp>
        <p:nvSpPr>
          <p:cNvPr id="9" name="Text 6"/>
          <p:cNvSpPr txBox="1"/>
          <p:nvPr/>
        </p:nvSpPr>
        <p:spPr>
          <a:xfrm>
            <a:off x="5242560" y="5303520"/>
            <a:ext cx="6461760" cy="853440"/>
          </a:xfrm>
          <a:prstGeom prst="rect">
            <a:avLst/>
          </a:prstGeom>
          <a:noFill/>
          <a:ln/>
        </p:spPr>
        <p:txBody>
          <a:bodyPr wrap="square" lIns="0" tIns="0" rIns="0" bIns="0" rtlCol="0" anchor="t"/>
          <a:lstStyle/>
          <a:p>
            <a:pPr defTabSz="1219170"/>
            <a:r>
              <a:rPr lang="en-US" sz="1467" i="1" dirty="0">
                <a:solidFill>
                  <a:srgbClr val="6B6670"/>
                </a:solidFill>
                <a:latin typeface="Calibri" pitchFamily="34" charset="0"/>
                <a:ea typeface="Calibri" pitchFamily="34" charset="-122"/>
                <a:cs typeface="Calibri" pitchFamily="34" charset="-120"/>
              </a:rPr>
              <a:t>Vehicle access now moderates the distance-to-incidental-purchases path. Naming the mechanism locates the interaction more precisely.</a:t>
            </a:r>
            <a:endParaRPr lang="en-US" sz="1467" dirty="0">
              <a:solidFill>
                <a:prstClr val="black"/>
              </a:solidFill>
              <a:latin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F1B2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720" cy="731520"/>
          </a:xfrm>
          <a:prstGeom prst="rect">
            <a:avLst/>
          </a:prstGeom>
          <a:noFill/>
          <a:ln/>
        </p:spPr>
        <p:txBody>
          <a:bodyPr wrap="square" lIns="0" tIns="0" rIns="0" bIns="0" rtlCol="0" anchor="ctr"/>
          <a:lstStyle/>
          <a:p>
            <a:pPr defTabSz="1219170"/>
            <a:r>
              <a:rPr lang="en-US" sz="3733" b="1" dirty="0">
                <a:solidFill>
                  <a:srgbClr val="FFFFFF"/>
                </a:solidFill>
                <a:latin typeface="Cambria" pitchFamily="34" charset="0"/>
                <a:ea typeface="Cambria" pitchFamily="34" charset="-122"/>
                <a:cs typeface="Cambria" pitchFamily="34" charset="-120"/>
              </a:rPr>
              <a:t>Evaluating the model</a:t>
            </a:r>
            <a:endParaRPr lang="en-US" sz="3733" dirty="0">
              <a:solidFill>
                <a:prstClr val="black"/>
              </a:solidFill>
              <a:latin typeface="Calibri" panose="020F0502020204030204"/>
            </a:endParaRPr>
          </a:p>
        </p:txBody>
      </p:sp>
      <p:sp>
        <p:nvSpPr>
          <p:cNvPr id="3" name="Shape 1"/>
          <p:cNvSpPr/>
          <p:nvPr/>
        </p:nvSpPr>
        <p:spPr>
          <a:xfrm>
            <a:off x="548640" y="1365504"/>
            <a:ext cx="1828800" cy="658368"/>
          </a:xfrm>
          <a:prstGeom prst="roundRect">
            <a:avLst>
              <a:gd name="adj" fmla="val 12963"/>
            </a:avLst>
          </a:prstGeom>
          <a:solidFill>
            <a:srgbClr val="D98E04"/>
          </a:solidFill>
          <a:ln w="12700">
            <a:solidFill>
              <a:srgbClr val="D98E04"/>
            </a:solidFill>
            <a:prstDash val="solid"/>
          </a:ln>
        </p:spPr>
        <p:txBody>
          <a:bodyPr/>
          <a:lstStyle/>
          <a:p>
            <a:pPr defTabSz="1219170"/>
            <a:endParaRPr lang="en-US" sz="2400">
              <a:solidFill>
                <a:prstClr val="black"/>
              </a:solidFill>
              <a:latin typeface="Calibri" panose="020F0502020204030204"/>
            </a:endParaRPr>
          </a:p>
        </p:txBody>
      </p:sp>
      <p:sp>
        <p:nvSpPr>
          <p:cNvPr id="4" name="Text 2"/>
          <p:cNvSpPr txBox="1"/>
          <p:nvPr/>
        </p:nvSpPr>
        <p:spPr>
          <a:xfrm>
            <a:off x="548640" y="1365504"/>
            <a:ext cx="1828800" cy="658368"/>
          </a:xfrm>
          <a:prstGeom prst="rect">
            <a:avLst/>
          </a:prstGeom>
          <a:noFill/>
          <a:ln/>
        </p:spPr>
        <p:txBody>
          <a:bodyPr wrap="square" lIns="0" tIns="0" rIns="0" bIns="0" rtlCol="0" anchor="ctr"/>
          <a:lstStyle/>
          <a:p>
            <a:pPr algn="ctr" defTabSz="1219170"/>
            <a:r>
              <a:rPr lang="en-US" sz="1733" b="1" dirty="0">
                <a:solidFill>
                  <a:srgbClr val="1F1B24"/>
                </a:solidFill>
                <a:latin typeface="Calibri" pitchFamily="34" charset="0"/>
                <a:ea typeface="Calibri" pitchFamily="34" charset="-122"/>
                <a:cs typeface="Calibri" pitchFamily="34" charset="-120"/>
              </a:rPr>
              <a:t>High</a:t>
            </a:r>
            <a:endParaRPr lang="en-US" sz="1733" dirty="0">
              <a:solidFill>
                <a:prstClr val="black"/>
              </a:solidFill>
              <a:latin typeface="Calibri" panose="020F0502020204030204"/>
            </a:endParaRPr>
          </a:p>
        </p:txBody>
      </p:sp>
      <p:sp>
        <p:nvSpPr>
          <p:cNvPr id="5" name="Text 3"/>
          <p:cNvSpPr txBox="1"/>
          <p:nvPr/>
        </p:nvSpPr>
        <p:spPr>
          <a:xfrm>
            <a:off x="2560320" y="1341120"/>
            <a:ext cx="3169920" cy="341376"/>
          </a:xfrm>
          <a:prstGeom prst="rect">
            <a:avLst/>
          </a:prstGeom>
          <a:noFill/>
          <a:ln/>
        </p:spPr>
        <p:txBody>
          <a:bodyPr wrap="square" lIns="0" tIns="0" rIns="0" bIns="0" rtlCol="0" anchor="ctr"/>
          <a:lstStyle/>
          <a:p>
            <a:pPr defTabSz="1219170"/>
            <a:r>
              <a:rPr lang="en-US" sz="1867" b="1" dirty="0">
                <a:solidFill>
                  <a:srgbClr val="FFFFFF"/>
                </a:solidFill>
                <a:latin typeface="Calibri" pitchFamily="34" charset="0"/>
                <a:ea typeface="Calibri" pitchFamily="34" charset="-122"/>
                <a:cs typeface="Calibri" pitchFamily="34" charset="-120"/>
              </a:rPr>
              <a:t>Testability</a:t>
            </a:r>
            <a:endParaRPr lang="en-US" sz="1867" dirty="0">
              <a:solidFill>
                <a:prstClr val="black"/>
              </a:solidFill>
              <a:latin typeface="Calibri" panose="020F0502020204030204"/>
            </a:endParaRPr>
          </a:p>
        </p:txBody>
      </p:sp>
      <p:sp>
        <p:nvSpPr>
          <p:cNvPr id="6" name="Text 4"/>
          <p:cNvSpPr txBox="1"/>
          <p:nvPr/>
        </p:nvSpPr>
        <p:spPr>
          <a:xfrm>
            <a:off x="2560320" y="1682496"/>
            <a:ext cx="9022080" cy="365760"/>
          </a:xfrm>
          <a:prstGeom prst="rect">
            <a:avLst/>
          </a:prstGeom>
          <a:noFill/>
          <a:ln/>
        </p:spPr>
        <p:txBody>
          <a:bodyPr wrap="square" lIns="0" tIns="0" rIns="0" bIns="0" rtlCol="0" anchor="ctr"/>
          <a:lstStyle/>
          <a:p>
            <a:pPr defTabSz="1219170"/>
            <a:r>
              <a:rPr lang="en-US" sz="1533" dirty="0">
                <a:solidFill>
                  <a:srgbClr val="C2BDCA"/>
                </a:solidFill>
                <a:latin typeface="Calibri" pitchFamily="34" charset="0"/>
                <a:ea typeface="Calibri" pitchFamily="34" charset="-122"/>
                <a:cs typeface="Calibri" pitchFamily="34" charset="-120"/>
              </a:rPr>
              <a:t>Every construct has a data source: licensing records, geocoding, survey items.</a:t>
            </a:r>
            <a:endParaRPr lang="en-US" sz="1533" dirty="0">
              <a:solidFill>
                <a:prstClr val="black"/>
              </a:solidFill>
              <a:latin typeface="Calibri" panose="020F0502020204030204"/>
            </a:endParaRPr>
          </a:p>
        </p:txBody>
      </p:sp>
      <p:sp>
        <p:nvSpPr>
          <p:cNvPr id="7" name="Shape 5"/>
          <p:cNvSpPr/>
          <p:nvPr/>
        </p:nvSpPr>
        <p:spPr>
          <a:xfrm>
            <a:off x="548640" y="2292096"/>
            <a:ext cx="1828800" cy="658368"/>
          </a:xfrm>
          <a:prstGeom prst="roundRect">
            <a:avLst>
              <a:gd name="adj" fmla="val 12963"/>
            </a:avLst>
          </a:prstGeom>
          <a:solidFill>
            <a:srgbClr val="D98E04"/>
          </a:solidFill>
          <a:ln w="12700">
            <a:solidFill>
              <a:srgbClr val="D98E04"/>
            </a:solidFill>
            <a:prstDash val="solid"/>
          </a:ln>
        </p:spPr>
        <p:txBody>
          <a:bodyPr/>
          <a:lstStyle/>
          <a:p>
            <a:pPr defTabSz="1219170"/>
            <a:endParaRPr lang="en-US" sz="2400">
              <a:solidFill>
                <a:prstClr val="black"/>
              </a:solidFill>
              <a:latin typeface="Calibri" panose="020F0502020204030204"/>
            </a:endParaRPr>
          </a:p>
        </p:txBody>
      </p:sp>
      <p:sp>
        <p:nvSpPr>
          <p:cNvPr id="8" name="Text 6"/>
          <p:cNvSpPr txBox="1"/>
          <p:nvPr/>
        </p:nvSpPr>
        <p:spPr>
          <a:xfrm>
            <a:off x="548640" y="2292096"/>
            <a:ext cx="1828800" cy="658368"/>
          </a:xfrm>
          <a:prstGeom prst="rect">
            <a:avLst/>
          </a:prstGeom>
          <a:noFill/>
          <a:ln/>
        </p:spPr>
        <p:txBody>
          <a:bodyPr wrap="square" lIns="0" tIns="0" rIns="0" bIns="0" rtlCol="0" anchor="ctr"/>
          <a:lstStyle/>
          <a:p>
            <a:pPr algn="ctr" defTabSz="1219170"/>
            <a:r>
              <a:rPr lang="en-US" sz="1733" b="1" dirty="0">
                <a:solidFill>
                  <a:srgbClr val="1F1B24"/>
                </a:solidFill>
                <a:latin typeface="Calibri" pitchFamily="34" charset="0"/>
                <a:ea typeface="Calibri" pitchFamily="34" charset="-122"/>
                <a:cs typeface="Calibri" pitchFamily="34" charset="-120"/>
              </a:rPr>
              <a:t>High</a:t>
            </a:r>
            <a:endParaRPr lang="en-US" sz="1733" dirty="0">
              <a:solidFill>
                <a:prstClr val="black"/>
              </a:solidFill>
              <a:latin typeface="Calibri" panose="020F0502020204030204"/>
            </a:endParaRPr>
          </a:p>
        </p:txBody>
      </p:sp>
      <p:sp>
        <p:nvSpPr>
          <p:cNvPr id="9" name="Text 7"/>
          <p:cNvSpPr txBox="1"/>
          <p:nvPr/>
        </p:nvSpPr>
        <p:spPr>
          <a:xfrm>
            <a:off x="2560320" y="2267712"/>
            <a:ext cx="3169920" cy="341376"/>
          </a:xfrm>
          <a:prstGeom prst="rect">
            <a:avLst/>
          </a:prstGeom>
          <a:noFill/>
          <a:ln/>
        </p:spPr>
        <p:txBody>
          <a:bodyPr wrap="square" lIns="0" tIns="0" rIns="0" bIns="0" rtlCol="0" anchor="ctr"/>
          <a:lstStyle/>
          <a:p>
            <a:pPr defTabSz="1219170"/>
            <a:r>
              <a:rPr lang="en-US" sz="1867" b="1" dirty="0">
                <a:solidFill>
                  <a:srgbClr val="FFFFFF"/>
                </a:solidFill>
                <a:latin typeface="Calibri" pitchFamily="34" charset="0"/>
                <a:ea typeface="Calibri" pitchFamily="34" charset="-122"/>
                <a:cs typeface="Calibri" pitchFamily="34" charset="-120"/>
              </a:rPr>
              <a:t>Falsifiability</a:t>
            </a:r>
            <a:endParaRPr lang="en-US" sz="1867" dirty="0">
              <a:solidFill>
                <a:prstClr val="black"/>
              </a:solidFill>
              <a:latin typeface="Calibri" panose="020F0502020204030204"/>
            </a:endParaRPr>
          </a:p>
        </p:txBody>
      </p:sp>
      <p:sp>
        <p:nvSpPr>
          <p:cNvPr id="10" name="Text 8"/>
          <p:cNvSpPr txBox="1"/>
          <p:nvPr/>
        </p:nvSpPr>
        <p:spPr>
          <a:xfrm>
            <a:off x="2560320" y="2609088"/>
            <a:ext cx="9022080" cy="365760"/>
          </a:xfrm>
          <a:prstGeom prst="rect">
            <a:avLst/>
          </a:prstGeom>
          <a:noFill/>
          <a:ln/>
        </p:spPr>
        <p:txBody>
          <a:bodyPr wrap="square" lIns="0" tIns="0" rIns="0" bIns="0" rtlCol="0" anchor="ctr"/>
          <a:lstStyle/>
          <a:p>
            <a:pPr defTabSz="1219170"/>
            <a:r>
              <a:rPr lang="en-US" sz="1533" dirty="0">
                <a:solidFill>
                  <a:srgbClr val="C2BDCA"/>
                </a:solidFill>
                <a:latin typeface="Calibri" pitchFamily="34" charset="0"/>
                <a:ea typeface="Calibri" pitchFamily="34" charset="-122"/>
                <a:cs typeface="Calibri" pitchFamily="34" charset="-120"/>
              </a:rPr>
              <a:t>Form, interaction, and indirect path could each fail on their own.</a:t>
            </a:r>
            <a:endParaRPr lang="en-US" sz="1533" dirty="0">
              <a:solidFill>
                <a:prstClr val="black"/>
              </a:solidFill>
              <a:latin typeface="Calibri" panose="020F0502020204030204"/>
            </a:endParaRPr>
          </a:p>
        </p:txBody>
      </p:sp>
      <p:sp>
        <p:nvSpPr>
          <p:cNvPr id="11" name="Shape 9"/>
          <p:cNvSpPr/>
          <p:nvPr/>
        </p:nvSpPr>
        <p:spPr>
          <a:xfrm>
            <a:off x="548640" y="3218688"/>
            <a:ext cx="1828800" cy="658368"/>
          </a:xfrm>
          <a:prstGeom prst="roundRect">
            <a:avLst>
              <a:gd name="adj" fmla="val 12963"/>
            </a:avLst>
          </a:prstGeom>
          <a:solidFill>
            <a:srgbClr val="9C93AD"/>
          </a:solidFill>
          <a:ln w="12700">
            <a:solidFill>
              <a:srgbClr val="9C93AD"/>
            </a:solidFill>
            <a:prstDash val="solid"/>
          </a:ln>
        </p:spPr>
        <p:txBody>
          <a:bodyPr/>
          <a:lstStyle/>
          <a:p>
            <a:pPr defTabSz="1219170"/>
            <a:endParaRPr lang="en-US" sz="2400">
              <a:solidFill>
                <a:prstClr val="black"/>
              </a:solidFill>
              <a:latin typeface="Calibri" panose="020F0502020204030204"/>
            </a:endParaRPr>
          </a:p>
        </p:txBody>
      </p:sp>
      <p:sp>
        <p:nvSpPr>
          <p:cNvPr id="12" name="Text 10"/>
          <p:cNvSpPr txBox="1"/>
          <p:nvPr/>
        </p:nvSpPr>
        <p:spPr>
          <a:xfrm>
            <a:off x="548640" y="3218688"/>
            <a:ext cx="1828800" cy="658368"/>
          </a:xfrm>
          <a:prstGeom prst="rect">
            <a:avLst/>
          </a:prstGeom>
          <a:noFill/>
          <a:ln/>
        </p:spPr>
        <p:txBody>
          <a:bodyPr wrap="square" lIns="0" tIns="0" rIns="0" bIns="0" rtlCol="0" anchor="ctr"/>
          <a:lstStyle/>
          <a:p>
            <a:pPr algn="ctr" defTabSz="1219170"/>
            <a:r>
              <a:rPr lang="en-US" sz="1733" b="1" dirty="0">
                <a:solidFill>
                  <a:srgbClr val="FFFFFF"/>
                </a:solidFill>
                <a:latin typeface="Calibri" pitchFamily="34" charset="0"/>
                <a:ea typeface="Calibri" pitchFamily="34" charset="-122"/>
                <a:cs typeface="Calibri" pitchFamily="34" charset="-120"/>
              </a:rPr>
              <a:t>Medium</a:t>
            </a:r>
            <a:endParaRPr lang="en-US" sz="1733" dirty="0">
              <a:solidFill>
                <a:prstClr val="black"/>
              </a:solidFill>
              <a:latin typeface="Calibri" panose="020F0502020204030204"/>
            </a:endParaRPr>
          </a:p>
        </p:txBody>
      </p:sp>
      <p:sp>
        <p:nvSpPr>
          <p:cNvPr id="13" name="Text 11"/>
          <p:cNvSpPr txBox="1"/>
          <p:nvPr/>
        </p:nvSpPr>
        <p:spPr>
          <a:xfrm>
            <a:off x="2560320" y="3194304"/>
            <a:ext cx="3169920" cy="341376"/>
          </a:xfrm>
          <a:prstGeom prst="rect">
            <a:avLst/>
          </a:prstGeom>
          <a:noFill/>
          <a:ln/>
        </p:spPr>
        <p:txBody>
          <a:bodyPr wrap="square" lIns="0" tIns="0" rIns="0" bIns="0" rtlCol="0" anchor="ctr"/>
          <a:lstStyle/>
          <a:p>
            <a:pPr defTabSz="1219170"/>
            <a:r>
              <a:rPr lang="en-US" sz="1867" b="1" dirty="0">
                <a:solidFill>
                  <a:srgbClr val="FFFFFF"/>
                </a:solidFill>
                <a:latin typeface="Calibri" pitchFamily="34" charset="0"/>
                <a:ea typeface="Calibri" pitchFamily="34" charset="-122"/>
                <a:cs typeface="Calibri" pitchFamily="34" charset="-120"/>
              </a:rPr>
              <a:t>Parsimony</a:t>
            </a:r>
            <a:endParaRPr lang="en-US" sz="1867" dirty="0">
              <a:solidFill>
                <a:prstClr val="black"/>
              </a:solidFill>
              <a:latin typeface="Calibri" panose="020F0502020204030204"/>
            </a:endParaRPr>
          </a:p>
        </p:txBody>
      </p:sp>
      <p:sp>
        <p:nvSpPr>
          <p:cNvPr id="14" name="Text 12"/>
          <p:cNvSpPr txBox="1"/>
          <p:nvPr/>
        </p:nvSpPr>
        <p:spPr>
          <a:xfrm>
            <a:off x="2560320" y="3535680"/>
            <a:ext cx="9022080" cy="365760"/>
          </a:xfrm>
          <a:prstGeom prst="rect">
            <a:avLst/>
          </a:prstGeom>
          <a:noFill/>
          <a:ln/>
        </p:spPr>
        <p:txBody>
          <a:bodyPr wrap="square" lIns="0" tIns="0" rIns="0" bIns="0" rtlCol="0" anchor="ctr"/>
          <a:lstStyle/>
          <a:p>
            <a:pPr defTabSz="1219170"/>
            <a:r>
              <a:rPr lang="en-US" sz="1533" dirty="0">
                <a:solidFill>
                  <a:srgbClr val="C2BDCA"/>
                </a:solidFill>
                <a:latin typeface="Calibri" pitchFamily="34" charset="0"/>
                <a:ea typeface="Calibri" pitchFamily="34" charset="-122"/>
                <a:cs typeface="Calibri" pitchFamily="34" charset="-120"/>
              </a:rPr>
              <a:t>Four variables, one interaction, one mediator. Lean, but no longer simple.</a:t>
            </a:r>
            <a:endParaRPr lang="en-US" sz="1533" dirty="0">
              <a:solidFill>
                <a:prstClr val="black"/>
              </a:solidFill>
              <a:latin typeface="Calibri" panose="020F0502020204030204"/>
            </a:endParaRPr>
          </a:p>
        </p:txBody>
      </p:sp>
      <p:sp>
        <p:nvSpPr>
          <p:cNvPr id="15" name="Shape 13"/>
          <p:cNvSpPr/>
          <p:nvPr/>
        </p:nvSpPr>
        <p:spPr>
          <a:xfrm>
            <a:off x="548640" y="4145280"/>
            <a:ext cx="1828800" cy="658368"/>
          </a:xfrm>
          <a:prstGeom prst="roundRect">
            <a:avLst>
              <a:gd name="adj" fmla="val 12963"/>
            </a:avLst>
          </a:prstGeom>
          <a:solidFill>
            <a:srgbClr val="9C93AD"/>
          </a:solidFill>
          <a:ln w="12700">
            <a:solidFill>
              <a:srgbClr val="9C93AD"/>
            </a:solidFill>
            <a:prstDash val="solid"/>
          </a:ln>
        </p:spPr>
        <p:txBody>
          <a:bodyPr/>
          <a:lstStyle/>
          <a:p>
            <a:pPr defTabSz="1219170"/>
            <a:endParaRPr lang="en-US" sz="2400">
              <a:solidFill>
                <a:prstClr val="black"/>
              </a:solidFill>
              <a:latin typeface="Calibri" panose="020F0502020204030204"/>
            </a:endParaRPr>
          </a:p>
        </p:txBody>
      </p:sp>
      <p:sp>
        <p:nvSpPr>
          <p:cNvPr id="16" name="Text 14"/>
          <p:cNvSpPr txBox="1"/>
          <p:nvPr/>
        </p:nvSpPr>
        <p:spPr>
          <a:xfrm>
            <a:off x="548640" y="4145280"/>
            <a:ext cx="1828800" cy="658368"/>
          </a:xfrm>
          <a:prstGeom prst="rect">
            <a:avLst/>
          </a:prstGeom>
          <a:noFill/>
          <a:ln/>
        </p:spPr>
        <p:txBody>
          <a:bodyPr wrap="square" lIns="0" tIns="0" rIns="0" bIns="0" rtlCol="0" anchor="ctr"/>
          <a:lstStyle/>
          <a:p>
            <a:pPr algn="ctr" defTabSz="1219170"/>
            <a:r>
              <a:rPr lang="en-US" sz="1733" b="1" dirty="0">
                <a:solidFill>
                  <a:srgbClr val="FFFFFF"/>
                </a:solidFill>
                <a:latin typeface="Calibri" pitchFamily="34" charset="0"/>
                <a:ea typeface="Calibri" pitchFamily="34" charset="-122"/>
                <a:cs typeface="Calibri" pitchFamily="34" charset="-120"/>
              </a:rPr>
              <a:t>Medium</a:t>
            </a:r>
            <a:endParaRPr lang="en-US" sz="1733" dirty="0">
              <a:solidFill>
                <a:prstClr val="black"/>
              </a:solidFill>
              <a:latin typeface="Calibri" panose="020F0502020204030204"/>
            </a:endParaRPr>
          </a:p>
        </p:txBody>
      </p:sp>
      <p:sp>
        <p:nvSpPr>
          <p:cNvPr id="17" name="Text 15"/>
          <p:cNvSpPr txBox="1"/>
          <p:nvPr/>
        </p:nvSpPr>
        <p:spPr>
          <a:xfrm>
            <a:off x="2560320" y="4120896"/>
            <a:ext cx="3169920" cy="341376"/>
          </a:xfrm>
          <a:prstGeom prst="rect">
            <a:avLst/>
          </a:prstGeom>
          <a:noFill/>
          <a:ln/>
        </p:spPr>
        <p:txBody>
          <a:bodyPr wrap="square" lIns="0" tIns="0" rIns="0" bIns="0" rtlCol="0" anchor="ctr"/>
          <a:lstStyle/>
          <a:p>
            <a:pPr defTabSz="1219170"/>
            <a:r>
              <a:rPr lang="en-US" sz="1867" b="1" dirty="0">
                <a:solidFill>
                  <a:srgbClr val="FFFFFF"/>
                </a:solidFill>
                <a:latin typeface="Calibri" pitchFamily="34" charset="0"/>
                <a:ea typeface="Calibri" pitchFamily="34" charset="-122"/>
                <a:cs typeface="Calibri" pitchFamily="34" charset="-120"/>
              </a:rPr>
              <a:t>Explanatory power</a:t>
            </a:r>
            <a:endParaRPr lang="en-US" sz="1867" dirty="0">
              <a:solidFill>
                <a:prstClr val="black"/>
              </a:solidFill>
              <a:latin typeface="Calibri" panose="020F0502020204030204"/>
            </a:endParaRPr>
          </a:p>
        </p:txBody>
      </p:sp>
      <p:sp>
        <p:nvSpPr>
          <p:cNvPr id="18" name="Text 16"/>
          <p:cNvSpPr txBox="1"/>
          <p:nvPr/>
        </p:nvSpPr>
        <p:spPr>
          <a:xfrm>
            <a:off x="2560320" y="4462272"/>
            <a:ext cx="9022080" cy="365760"/>
          </a:xfrm>
          <a:prstGeom prst="rect">
            <a:avLst/>
          </a:prstGeom>
          <a:noFill/>
          <a:ln/>
        </p:spPr>
        <p:txBody>
          <a:bodyPr wrap="square" lIns="0" tIns="0" rIns="0" bIns="0" rtlCol="0" anchor="ctr"/>
          <a:lstStyle/>
          <a:p>
            <a:pPr defTabSz="1219170"/>
            <a:r>
              <a:rPr lang="en-US" sz="1533" dirty="0">
                <a:solidFill>
                  <a:srgbClr val="C2BDCA"/>
                </a:solidFill>
                <a:latin typeface="Calibri" pitchFamily="34" charset="0"/>
                <a:ea typeface="Calibri" pitchFamily="34" charset="-122"/>
                <a:cs typeface="Calibri" pitchFamily="34" charset="-120"/>
              </a:rPr>
              <a:t>Credible mechanism, modest variance. Price and dependence are untheorized.</a:t>
            </a:r>
            <a:endParaRPr lang="en-US" sz="1533" dirty="0">
              <a:solidFill>
                <a:prstClr val="black"/>
              </a:solidFill>
              <a:latin typeface="Calibri" panose="020F0502020204030204"/>
            </a:endParaRPr>
          </a:p>
        </p:txBody>
      </p:sp>
      <p:sp>
        <p:nvSpPr>
          <p:cNvPr id="19" name="Shape 17"/>
          <p:cNvSpPr/>
          <p:nvPr/>
        </p:nvSpPr>
        <p:spPr>
          <a:xfrm>
            <a:off x="548640" y="5071872"/>
            <a:ext cx="1828800" cy="658368"/>
          </a:xfrm>
          <a:prstGeom prst="roundRect">
            <a:avLst>
              <a:gd name="adj" fmla="val 12963"/>
            </a:avLst>
          </a:prstGeom>
          <a:solidFill>
            <a:srgbClr val="6B6670"/>
          </a:solidFill>
          <a:ln w="12700">
            <a:solidFill>
              <a:srgbClr val="6B6670"/>
            </a:solidFill>
            <a:prstDash val="solid"/>
          </a:ln>
        </p:spPr>
        <p:txBody>
          <a:bodyPr/>
          <a:lstStyle/>
          <a:p>
            <a:pPr defTabSz="1219170"/>
            <a:endParaRPr lang="en-US" sz="2400">
              <a:solidFill>
                <a:prstClr val="black"/>
              </a:solidFill>
              <a:latin typeface="Calibri" panose="020F0502020204030204"/>
            </a:endParaRPr>
          </a:p>
        </p:txBody>
      </p:sp>
      <p:sp>
        <p:nvSpPr>
          <p:cNvPr id="20" name="Text 18"/>
          <p:cNvSpPr txBox="1"/>
          <p:nvPr/>
        </p:nvSpPr>
        <p:spPr>
          <a:xfrm>
            <a:off x="548640" y="5071872"/>
            <a:ext cx="1828800" cy="658368"/>
          </a:xfrm>
          <a:prstGeom prst="rect">
            <a:avLst/>
          </a:prstGeom>
          <a:noFill/>
          <a:ln/>
        </p:spPr>
        <p:txBody>
          <a:bodyPr wrap="square" lIns="0" tIns="0" rIns="0" bIns="0" rtlCol="0" anchor="ctr"/>
          <a:lstStyle/>
          <a:p>
            <a:pPr algn="ctr" defTabSz="1219170"/>
            <a:r>
              <a:rPr lang="en-US" sz="1733" b="1" dirty="0">
                <a:solidFill>
                  <a:srgbClr val="FFFFFF"/>
                </a:solidFill>
                <a:latin typeface="Calibri" pitchFamily="34" charset="0"/>
                <a:ea typeface="Calibri" pitchFamily="34" charset="-122"/>
                <a:cs typeface="Calibri" pitchFamily="34" charset="-120"/>
              </a:rPr>
              <a:t>Low</a:t>
            </a:r>
            <a:endParaRPr lang="en-US" sz="1733" dirty="0">
              <a:solidFill>
                <a:prstClr val="black"/>
              </a:solidFill>
              <a:latin typeface="Calibri" panose="020F0502020204030204"/>
            </a:endParaRPr>
          </a:p>
        </p:txBody>
      </p:sp>
      <p:sp>
        <p:nvSpPr>
          <p:cNvPr id="21" name="Text 19"/>
          <p:cNvSpPr txBox="1"/>
          <p:nvPr/>
        </p:nvSpPr>
        <p:spPr>
          <a:xfrm>
            <a:off x="2560320" y="5047488"/>
            <a:ext cx="3169920" cy="341376"/>
          </a:xfrm>
          <a:prstGeom prst="rect">
            <a:avLst/>
          </a:prstGeom>
          <a:noFill/>
          <a:ln/>
        </p:spPr>
        <p:txBody>
          <a:bodyPr wrap="square" lIns="0" tIns="0" rIns="0" bIns="0" rtlCol="0" anchor="ctr"/>
          <a:lstStyle/>
          <a:p>
            <a:pPr defTabSz="1219170"/>
            <a:r>
              <a:rPr lang="en-US" sz="1867" b="1" dirty="0">
                <a:solidFill>
                  <a:srgbClr val="FFFFFF"/>
                </a:solidFill>
                <a:latin typeface="Calibri" pitchFamily="34" charset="0"/>
                <a:ea typeface="Calibri" pitchFamily="34" charset="-122"/>
                <a:cs typeface="Calibri" pitchFamily="34" charset="-120"/>
              </a:rPr>
              <a:t>Formal development</a:t>
            </a:r>
            <a:endParaRPr lang="en-US" sz="1867" dirty="0">
              <a:solidFill>
                <a:prstClr val="black"/>
              </a:solidFill>
              <a:latin typeface="Calibri" panose="020F0502020204030204"/>
            </a:endParaRPr>
          </a:p>
        </p:txBody>
      </p:sp>
      <p:sp>
        <p:nvSpPr>
          <p:cNvPr id="22" name="Text 20"/>
          <p:cNvSpPr txBox="1"/>
          <p:nvPr/>
        </p:nvSpPr>
        <p:spPr>
          <a:xfrm>
            <a:off x="2560320" y="5388864"/>
            <a:ext cx="9022080" cy="365760"/>
          </a:xfrm>
          <a:prstGeom prst="rect">
            <a:avLst/>
          </a:prstGeom>
          <a:noFill/>
          <a:ln/>
        </p:spPr>
        <p:txBody>
          <a:bodyPr wrap="square" lIns="0" tIns="0" rIns="0" bIns="0" rtlCol="0" anchor="ctr"/>
          <a:lstStyle/>
          <a:p>
            <a:pPr defTabSz="1219170"/>
            <a:r>
              <a:rPr lang="en-US" sz="1533" dirty="0">
                <a:solidFill>
                  <a:srgbClr val="C2BDCA"/>
                </a:solidFill>
                <a:latin typeface="Calibri" pitchFamily="34" charset="0"/>
                <a:ea typeface="Calibri" pitchFamily="34" charset="-122"/>
                <a:cs typeface="Calibri" pitchFamily="34" charset="-120"/>
              </a:rPr>
              <a:t>Stated verbally and in diagrams, not as a specified mathematical model.</a:t>
            </a:r>
            <a:endParaRPr lang="en-US" sz="1533" dirty="0">
              <a:solidFill>
                <a:prstClr val="black"/>
              </a:solidFill>
              <a:latin typeface="Calibri" panose="020F0502020204030204"/>
            </a:endParaRPr>
          </a:p>
        </p:txBody>
      </p:sp>
      <p:sp>
        <p:nvSpPr>
          <p:cNvPr id="23" name="Text 21"/>
          <p:cNvSpPr txBox="1"/>
          <p:nvPr/>
        </p:nvSpPr>
        <p:spPr>
          <a:xfrm>
            <a:off x="548640" y="6096000"/>
            <a:ext cx="11094720" cy="426720"/>
          </a:xfrm>
          <a:prstGeom prst="rect">
            <a:avLst/>
          </a:prstGeom>
          <a:noFill/>
          <a:ln/>
        </p:spPr>
        <p:txBody>
          <a:bodyPr wrap="square" lIns="0" tIns="0" rIns="0" bIns="0" rtlCol="0" anchor="ctr"/>
          <a:lstStyle/>
          <a:p>
            <a:pPr defTabSz="1219170"/>
            <a:r>
              <a:rPr lang="en-US" sz="1867" i="1" dirty="0">
                <a:solidFill>
                  <a:srgbClr val="D98E04"/>
                </a:solidFill>
                <a:latin typeface="Cambria" pitchFamily="34" charset="0"/>
                <a:ea typeface="Cambria" pitchFamily="34" charset="-122"/>
                <a:cs typeface="Cambria" pitchFamily="34" charset="-120"/>
              </a:rPr>
              <a:t>The strengths are conceptual, the weaknesses is formalization. Both are fixable.</a:t>
            </a:r>
            <a:endParaRPr lang="en-US" sz="1867" dirty="0">
              <a:solidFill>
                <a:prstClr val="black"/>
              </a:solidFill>
              <a:latin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11A84E-41B7-48E3-36F2-4775E60E849C}"/>
              </a:ext>
            </a:extLst>
          </p:cNvPr>
          <p:cNvSpPr txBox="1"/>
          <p:nvPr/>
        </p:nvSpPr>
        <p:spPr>
          <a:xfrm>
            <a:off x="2162432" y="3941806"/>
            <a:ext cx="7933038" cy="646331"/>
          </a:xfrm>
          <a:prstGeom prst="rect">
            <a:avLst/>
          </a:prstGeom>
          <a:noFill/>
        </p:spPr>
        <p:txBody>
          <a:bodyPr wrap="square" rtlCol="0">
            <a:spAutoFit/>
          </a:bodyPr>
          <a:lstStyle/>
          <a:p>
            <a:pPr algn="ctr"/>
            <a:r>
              <a:rPr lang="en-US" dirty="0"/>
              <a:t>Happy to Take Questions. Thank you.</a:t>
            </a:r>
          </a:p>
          <a:p>
            <a:endParaRPr lang="en-US" dirty="0"/>
          </a:p>
        </p:txBody>
      </p:sp>
      <p:sp>
        <p:nvSpPr>
          <p:cNvPr id="3" name="TextBox 2">
            <a:extLst>
              <a:ext uri="{FF2B5EF4-FFF2-40B4-BE49-F238E27FC236}">
                <a16:creationId xmlns:a16="http://schemas.microsoft.com/office/drawing/2014/main" id="{B113591C-A843-85E1-4FFD-7BBE21C5D4BC}"/>
              </a:ext>
            </a:extLst>
          </p:cNvPr>
          <p:cNvSpPr txBox="1"/>
          <p:nvPr/>
        </p:nvSpPr>
        <p:spPr>
          <a:xfrm>
            <a:off x="2162432" y="753762"/>
            <a:ext cx="6771502" cy="646331"/>
          </a:xfrm>
          <a:prstGeom prst="rect">
            <a:avLst/>
          </a:prstGeom>
          <a:noFill/>
        </p:spPr>
        <p:txBody>
          <a:bodyPr wrap="square" rtlCol="0">
            <a:spAutoFit/>
          </a:bodyPr>
          <a:lstStyle/>
          <a:p>
            <a:r>
              <a:rPr lang="en-US" dirty="0"/>
              <a:t>Python codes used to generate </a:t>
            </a:r>
            <a:r>
              <a:rPr lang="en-US"/>
              <a:t>the figures:</a:t>
            </a:r>
          </a:p>
          <a:p>
            <a:endParaRPr lang="en-US" dirty="0"/>
          </a:p>
        </p:txBody>
      </p:sp>
    </p:spTree>
    <p:extLst>
      <p:ext uri="{BB962C8B-B14F-4D97-AF65-F5344CB8AC3E}">
        <p14:creationId xmlns:p14="http://schemas.microsoft.com/office/powerpoint/2010/main" val="148120199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79</TotalTime>
  <Words>3002</Words>
  <Application>Microsoft Office PowerPoint</Application>
  <PresentationFormat>Widescreen</PresentationFormat>
  <Paragraphs>104</Paragraphs>
  <Slides>11</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Arial</vt:lpstr>
      <vt:lpstr>Calibri</vt:lpstr>
      <vt:lpstr>Cambria</vt:lpstr>
      <vt:lpstr>1_Office Theme</vt:lpstr>
      <vt:lpstr>Physical Accessibility of Alcohol and Alcohol Purchasing Among Low-Income Households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Raj Kumar Subedi</dc:creator>
  <cp:lastModifiedBy>Raj Kumar Subedi</cp:lastModifiedBy>
  <cp:revision>4</cp:revision>
  <dcterms:created xsi:type="dcterms:W3CDTF">2026-10-08T00:28:57Z</dcterms:created>
  <dcterms:modified xsi:type="dcterms:W3CDTF">2026-10-08T01:49:33Z</dcterms:modified>
</cp:coreProperties>
</file>